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2"/>
  </p:notesMasterIdLst>
  <p:sldIdLst>
    <p:sldId id="256" r:id="rId2"/>
    <p:sldId id="257" r:id="rId3"/>
    <p:sldId id="263" r:id="rId4"/>
    <p:sldId id="262" r:id="rId5"/>
    <p:sldId id="259" r:id="rId6"/>
    <p:sldId id="265" r:id="rId7"/>
    <p:sldId id="258" r:id="rId8"/>
    <p:sldId id="261" r:id="rId9"/>
    <p:sldId id="264" r:id="rId10"/>
    <p:sldId id="266"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E6F2"/>
    <a:srgbClr val="E50D79"/>
    <a:srgbClr val="CC0099"/>
    <a:srgbClr val="E2109C"/>
    <a:srgbClr val="990099"/>
    <a:srgbClr val="FE9202"/>
    <a:srgbClr val="007033"/>
    <a:srgbClr val="6C1A00"/>
    <a:srgbClr val="00AACC"/>
    <a:srgbClr val="5EEC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740" y="40"/>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6/29/2022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8965" y="1502815"/>
            <a:ext cx="8229600" cy="1679755"/>
          </a:xfrm>
          <a:noFill/>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457200" y="3487980"/>
            <a:ext cx="8229600" cy="654741"/>
          </a:xfrm>
        </p:spPr>
        <p:txBody>
          <a:bodyPr>
            <a:normAutofit/>
          </a:bodyPr>
          <a:lstStyle>
            <a:lvl1pPr marL="0" indent="0" algn="r">
              <a:buNone/>
              <a:defRPr sz="2800" b="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6/29/2022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81175"/>
            <a:ext cx="8246070" cy="763524"/>
          </a:xfrm>
        </p:spPr>
        <p:txBody>
          <a:bodyPr>
            <a:normAutofit/>
          </a:bodyPr>
          <a:lstStyle>
            <a:lvl1pPr algn="r">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5" y="1197406"/>
            <a:ext cx="8246070" cy="3569856"/>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96903" y="281175"/>
            <a:ext cx="6389896" cy="763525"/>
          </a:xfrm>
        </p:spPr>
        <p:txBody>
          <a:bodyPr>
            <a:normAutofit/>
          </a:bodyPr>
          <a:lstStyle>
            <a:lvl1pPr algn="l">
              <a:defRPr sz="360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296904" y="1102343"/>
            <a:ext cx="6389896" cy="3576168"/>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6/29/2022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6/29/2022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6/29/2022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04" y="277487"/>
            <a:ext cx="8076896" cy="763525"/>
          </a:xfrm>
        </p:spPr>
        <p:txBody>
          <a:bodyPr>
            <a:normAutofit/>
          </a:bodyPr>
          <a:lstStyle>
            <a:lvl1pPr algn="r">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655520"/>
            <a:ext cx="4040188"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127917"/>
            <a:ext cx="4040188"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655520"/>
            <a:ext cx="4041775"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127917"/>
            <a:ext cx="4041775"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6/29/2022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6/29/2022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6/29/2022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6/29/2022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6/29/2022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6/29/2022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sciencedirect.com/science/article/pii/S2405883116300247"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s://reliefweb.int/report/pakistan/balochistan-drought-needs-assessment-bdna-report-february-2019" TargetMode="Externa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page.org.pk/education-budget-of-pakistan/" TargetMode="Externa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5525" y="128471"/>
            <a:ext cx="3343040" cy="3054100"/>
          </a:xfrm>
        </p:spPr>
        <p:txBody>
          <a:bodyPr>
            <a:normAutofit/>
          </a:bodyPr>
          <a:lstStyle/>
          <a:p>
            <a:pPr algn="ctr" fontAlgn="base"/>
            <a:r>
              <a:rPr lang="en-US" b="1" i="0" u="none" strike="noStrike" dirty="0">
                <a:solidFill>
                  <a:srgbClr val="FFFFFF"/>
                </a:solidFill>
                <a:effectLst/>
                <a:latin typeface="trebuchet ms" panose="020B0603020202020204" pitchFamily="34" charset="0"/>
              </a:rPr>
              <a:t>Is Pakistan Ready for Digital Revolution?</a:t>
            </a:r>
          </a:p>
        </p:txBody>
      </p:sp>
      <p:sp>
        <p:nvSpPr>
          <p:cNvPr id="3" name="Subtitle 2"/>
          <p:cNvSpPr>
            <a:spLocks noGrp="1"/>
          </p:cNvSpPr>
          <p:nvPr>
            <p:ph type="subTitle" idx="1"/>
          </p:nvPr>
        </p:nvSpPr>
        <p:spPr>
          <a:xfrm>
            <a:off x="5182819" y="3182570"/>
            <a:ext cx="3495746" cy="1374345"/>
          </a:xfrm>
        </p:spPr>
        <p:txBody>
          <a:bodyPr/>
          <a:lstStyle/>
          <a:p>
            <a:r>
              <a:rPr lang="en-US" b="1" dirty="0">
                <a:solidFill>
                  <a:schemeClr val="tx1"/>
                </a:solidFill>
                <a:latin typeface="Agency FB" panose="020B0503020202020204" pitchFamily="34" charset="0"/>
                <a:cs typeface="Arabic Typesetting" panose="03020402040406030203" pitchFamily="66" charset="-78"/>
              </a:rPr>
              <a:t>Name: Muhammad Taqui</a:t>
            </a:r>
          </a:p>
          <a:p>
            <a:r>
              <a:rPr lang="en-US" b="1" dirty="0">
                <a:solidFill>
                  <a:schemeClr val="tx1"/>
                </a:solidFill>
                <a:latin typeface="Agency FB" panose="020B0503020202020204" pitchFamily="34" charset="0"/>
                <a:cs typeface="Arabic Typesetting" panose="03020402040406030203" pitchFamily="66" charset="-78"/>
              </a:rPr>
              <a:t>Enroll#     01-136221-021</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3064" y="281175"/>
            <a:ext cx="5200205" cy="763524"/>
          </a:xfrm>
        </p:spPr>
        <p:txBody>
          <a:bodyPr>
            <a:normAutofit/>
          </a:bodyPr>
          <a:lstStyle/>
          <a:p>
            <a:r>
              <a:rPr lang="en-US" sz="3200" b="1" dirty="0"/>
              <a:t>Role of PTI government</a:t>
            </a:r>
          </a:p>
        </p:txBody>
      </p:sp>
      <p:sp>
        <p:nvSpPr>
          <p:cNvPr id="5" name="Content Placeholder 4">
            <a:extLst>
              <a:ext uri="{FF2B5EF4-FFF2-40B4-BE49-F238E27FC236}">
                <a16:creationId xmlns:a16="http://schemas.microsoft.com/office/drawing/2014/main" id="{22809BC2-92F5-B1A0-0859-3EAFCADF021C}"/>
              </a:ext>
            </a:extLst>
          </p:cNvPr>
          <p:cNvSpPr>
            <a:spLocks noGrp="1"/>
          </p:cNvSpPr>
          <p:nvPr>
            <p:ph idx="1"/>
          </p:nvPr>
        </p:nvSpPr>
        <p:spPr>
          <a:xfrm>
            <a:off x="448965" y="1197405"/>
            <a:ext cx="4733855" cy="3664919"/>
          </a:xfrm>
        </p:spPr>
        <p:txBody>
          <a:bodyPr>
            <a:normAutofit/>
          </a:bodyPr>
          <a:lstStyle/>
          <a:p>
            <a:pPr marL="0" indent="0">
              <a:buNone/>
            </a:pPr>
            <a:r>
              <a:rPr lang="en-US" b="0" i="0" dirty="0">
                <a:solidFill>
                  <a:srgbClr val="444444"/>
                </a:solidFill>
                <a:effectLst/>
                <a:latin typeface="Arabic Typesetting" panose="03020402040406030203" pitchFamily="66" charset="-78"/>
                <a:cs typeface="Arabic Typesetting" panose="03020402040406030203" pitchFamily="66" charset="-78"/>
              </a:rPr>
              <a:t>The subject of ‘digital Pakistan’ became the talk of the town when the PTI government embarked on the journey of digitalizing Pakistan under ‘Digital Pakistan Vision’ in December 2019. All the segments of the country have shown great enthusiasm for the initiative.</a:t>
            </a:r>
            <a:endParaRPr lang="en-AE" dirty="0">
              <a:latin typeface="Arabic Typesetting" panose="03020402040406030203" pitchFamily="66" charset="-78"/>
              <a:cs typeface="Arabic Typesetting" panose="03020402040406030203" pitchFamily="66" charset="-78"/>
            </a:endParaRPr>
          </a:p>
        </p:txBody>
      </p:sp>
      <p:pic>
        <p:nvPicPr>
          <p:cNvPr id="1030" name="Picture 6" descr="See the source image">
            <a:extLst>
              <a:ext uri="{FF2B5EF4-FFF2-40B4-BE49-F238E27FC236}">
                <a16:creationId xmlns:a16="http://schemas.microsoft.com/office/drawing/2014/main" id="{37CC09B1-01A2-90F9-388B-3DE154CC2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5525" y="1197407"/>
            <a:ext cx="3425076" cy="3664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330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FEB255-DC2F-C630-11E7-4EF40A98655C}"/>
              </a:ext>
            </a:extLst>
          </p:cNvPr>
          <p:cNvSpPr>
            <a:spLocks noGrp="1"/>
          </p:cNvSpPr>
          <p:nvPr>
            <p:ph idx="1"/>
          </p:nvPr>
        </p:nvSpPr>
        <p:spPr>
          <a:xfrm>
            <a:off x="448965" y="1197405"/>
            <a:ext cx="4886560" cy="3664919"/>
          </a:xfrm>
        </p:spPr>
        <p:txBody>
          <a:bodyPr>
            <a:normAutofit/>
          </a:bodyPr>
          <a:lstStyle/>
          <a:p>
            <a:r>
              <a:rPr lang="en-US" sz="2400" b="0" i="0" dirty="0">
                <a:solidFill>
                  <a:srgbClr val="444444"/>
                </a:solidFill>
                <a:effectLst/>
                <a:latin typeface="Arabic Typesetting" panose="03020402040406030203" pitchFamily="66" charset="-78"/>
                <a:cs typeface="Arabic Typesetting" panose="03020402040406030203" pitchFamily="66" charset="-78"/>
              </a:rPr>
              <a:t>$2 billion set aside for National digital transformations &amp; provision of different services to citizens through mobile.</a:t>
            </a:r>
          </a:p>
          <a:p>
            <a:r>
              <a:rPr lang="en-US" sz="2400" b="0" i="0" dirty="0">
                <a:solidFill>
                  <a:srgbClr val="444444"/>
                </a:solidFill>
                <a:effectLst/>
                <a:latin typeface="Arabic Typesetting" panose="03020402040406030203" pitchFamily="66" charset="-78"/>
                <a:cs typeface="Arabic Typesetting" panose="03020402040406030203" pitchFamily="66" charset="-78"/>
              </a:rPr>
              <a:t>Using technology to open government data to increase transparency.</a:t>
            </a:r>
          </a:p>
          <a:p>
            <a:r>
              <a:rPr lang="en-US" sz="2400" b="0" i="0" dirty="0">
                <a:solidFill>
                  <a:srgbClr val="444444"/>
                </a:solidFill>
                <a:effectLst/>
                <a:latin typeface="Arabic Typesetting" panose="03020402040406030203" pitchFamily="66" charset="-78"/>
                <a:cs typeface="Arabic Typesetting" panose="03020402040406030203" pitchFamily="66" charset="-78"/>
              </a:rPr>
              <a:t>Establishment of 120 new campuses to produce 100,000 technology graduates/year</a:t>
            </a:r>
          </a:p>
          <a:p>
            <a:r>
              <a:rPr lang="en-US" sz="2400" b="0" i="0" dirty="0">
                <a:solidFill>
                  <a:srgbClr val="444444"/>
                </a:solidFill>
                <a:effectLst/>
                <a:latin typeface="Arabic Typesetting" panose="03020402040406030203" pitchFamily="66" charset="-78"/>
                <a:cs typeface="Arabic Typesetting" panose="03020402040406030203" pitchFamily="66" charset="-78"/>
              </a:rPr>
              <a:t>A focus will be on creating enabling environment for start-ups and entrepreneurs.</a:t>
            </a:r>
          </a:p>
          <a:p>
            <a:endParaRPr lang="en-AE" dirty="0"/>
          </a:p>
        </p:txBody>
      </p:sp>
      <p:sp>
        <p:nvSpPr>
          <p:cNvPr id="5" name="Title 4">
            <a:extLst>
              <a:ext uri="{FF2B5EF4-FFF2-40B4-BE49-F238E27FC236}">
                <a16:creationId xmlns:a16="http://schemas.microsoft.com/office/drawing/2014/main" id="{5C107A39-1B81-F87B-245B-2DFF99BFD1CA}"/>
              </a:ext>
            </a:extLst>
          </p:cNvPr>
          <p:cNvSpPr>
            <a:spLocks noGrp="1"/>
          </p:cNvSpPr>
          <p:nvPr>
            <p:ph type="title"/>
          </p:nvPr>
        </p:nvSpPr>
        <p:spPr>
          <a:xfrm>
            <a:off x="3197655" y="739290"/>
            <a:ext cx="4123035" cy="305410"/>
          </a:xfrm>
        </p:spPr>
        <p:txBody>
          <a:bodyPr>
            <a:normAutofit fontScale="90000"/>
          </a:bodyPr>
          <a:lstStyle/>
          <a:p>
            <a:r>
              <a:rPr lang="en-US" sz="3200" b="1" i="0" dirty="0">
                <a:effectLst/>
              </a:rPr>
              <a:t>PTI’s Digital Policy</a:t>
            </a:r>
            <a:br>
              <a:rPr lang="en-US" sz="1400" b="0" i="0" dirty="0">
                <a:solidFill>
                  <a:srgbClr val="222222"/>
                </a:solidFill>
                <a:effectLst/>
                <a:latin typeface="Poppins" panose="00000500000000000000" pitchFamily="2" charset="0"/>
              </a:rPr>
            </a:br>
            <a:br>
              <a:rPr lang="en-US" sz="2400" b="0" i="0" dirty="0">
                <a:effectLst/>
                <a:latin typeface="Poppins" panose="00000500000000000000" pitchFamily="2" charset="0"/>
              </a:rPr>
            </a:br>
            <a:endParaRPr lang="en-AE" sz="2400" dirty="0"/>
          </a:p>
        </p:txBody>
      </p:sp>
      <p:pic>
        <p:nvPicPr>
          <p:cNvPr id="2050" name="Picture 2" descr="See the source image">
            <a:extLst>
              <a:ext uri="{FF2B5EF4-FFF2-40B4-BE49-F238E27FC236}">
                <a16:creationId xmlns:a16="http://schemas.microsoft.com/office/drawing/2014/main" id="{D3DD1A6A-4EF2-2B21-9EDC-4FC0DC25F3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5525" y="1197405"/>
            <a:ext cx="3664920" cy="244328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ee the source image">
            <a:extLst>
              <a:ext uri="{FF2B5EF4-FFF2-40B4-BE49-F238E27FC236}">
                <a16:creationId xmlns:a16="http://schemas.microsoft.com/office/drawing/2014/main" id="{4C7AEBA5-4EDD-8F11-DAE4-5D57F805CD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8102" y="4052253"/>
            <a:ext cx="3305175" cy="957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230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5C9E9-94AC-D515-5039-9F2D60AA0593}"/>
              </a:ext>
            </a:extLst>
          </p:cNvPr>
          <p:cNvSpPr>
            <a:spLocks noGrp="1"/>
          </p:cNvSpPr>
          <p:nvPr>
            <p:ph type="title"/>
          </p:nvPr>
        </p:nvSpPr>
        <p:spPr/>
        <p:txBody>
          <a:bodyPr>
            <a:normAutofit/>
          </a:bodyPr>
          <a:lstStyle/>
          <a:p>
            <a:r>
              <a:rPr lang="en-US" sz="3200" b="1" dirty="0"/>
              <a:t>Role of past Governments</a:t>
            </a:r>
            <a:endParaRPr lang="en-AE" sz="3200" b="1" dirty="0"/>
          </a:p>
        </p:txBody>
      </p:sp>
      <p:sp>
        <p:nvSpPr>
          <p:cNvPr id="3" name="Content Placeholder 2">
            <a:extLst>
              <a:ext uri="{FF2B5EF4-FFF2-40B4-BE49-F238E27FC236}">
                <a16:creationId xmlns:a16="http://schemas.microsoft.com/office/drawing/2014/main" id="{3839C353-E043-B479-7DB9-2AAA208B4BDF}"/>
              </a:ext>
            </a:extLst>
          </p:cNvPr>
          <p:cNvSpPr>
            <a:spLocks noGrp="1"/>
          </p:cNvSpPr>
          <p:nvPr>
            <p:ph idx="1"/>
          </p:nvPr>
        </p:nvSpPr>
        <p:spPr>
          <a:xfrm>
            <a:off x="5182820" y="1197406"/>
            <a:ext cx="3817623" cy="3569856"/>
          </a:xfrm>
        </p:spPr>
        <p:txBody>
          <a:bodyPr>
            <a:normAutofit lnSpcReduction="10000"/>
          </a:bodyPr>
          <a:lstStyle/>
          <a:p>
            <a:pPr marL="0" indent="0">
              <a:buNone/>
            </a:pPr>
            <a:r>
              <a:rPr lang="en-US" b="0" i="0" dirty="0">
                <a:solidFill>
                  <a:srgbClr val="444444"/>
                </a:solidFill>
                <a:effectLst/>
                <a:latin typeface="Arabic Typesetting" panose="03020402040406030203" pitchFamily="66" charset="-78"/>
                <a:cs typeface="Arabic Typesetting" panose="03020402040406030203" pitchFamily="66" charset="-78"/>
              </a:rPr>
              <a:t>The governments in the past never took any practical steps to digitalize Pakistan. However, the PTI government seems to be very clear in its vision and has an understanding of the hidden potentials associated with the full-scale infusion of technology in the country.</a:t>
            </a:r>
            <a:endParaRPr lang="en-US" dirty="0">
              <a:latin typeface="Arabic Typesetting" panose="03020402040406030203" pitchFamily="66" charset="-78"/>
              <a:cs typeface="Arabic Typesetting" panose="03020402040406030203" pitchFamily="66" charset="-78"/>
            </a:endParaRPr>
          </a:p>
          <a:p>
            <a:pPr marL="0" indent="0">
              <a:buNone/>
            </a:pPr>
            <a:endParaRPr lang="en-AE" dirty="0"/>
          </a:p>
        </p:txBody>
      </p:sp>
      <p:pic>
        <p:nvPicPr>
          <p:cNvPr id="3074" name="Picture 2" descr="See the source image">
            <a:extLst>
              <a:ext uri="{FF2B5EF4-FFF2-40B4-BE49-F238E27FC236}">
                <a16:creationId xmlns:a16="http://schemas.microsoft.com/office/drawing/2014/main" id="{AF80B22E-720B-98BC-5600-617009267C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57" y="1197406"/>
            <a:ext cx="4733853" cy="3664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714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96903" y="739290"/>
            <a:ext cx="6389896" cy="305410"/>
          </a:xfrm>
        </p:spPr>
        <p:txBody>
          <a:bodyPr>
            <a:normAutofit fontScale="90000"/>
          </a:bodyPr>
          <a:lstStyle/>
          <a:p>
            <a:r>
              <a:rPr lang="en-US" b="1" i="0" dirty="0">
                <a:effectLst/>
              </a:rPr>
              <a:t>Is Pakistan Ready for Digital Revolution?</a:t>
            </a:r>
            <a:br>
              <a:rPr lang="en-US" b="1" i="0" dirty="0">
                <a:solidFill>
                  <a:srgbClr val="232323"/>
                </a:solidFill>
                <a:effectLst/>
                <a:latin typeface="trebuchet ms" panose="020B0603020202020204" pitchFamily="34" charset="0"/>
              </a:rPr>
            </a:br>
            <a:endParaRPr lang="en-US" dirty="0"/>
          </a:p>
        </p:txBody>
      </p:sp>
      <p:sp>
        <p:nvSpPr>
          <p:cNvPr id="5" name="Content Placeholder 4"/>
          <p:cNvSpPr>
            <a:spLocks noGrp="1"/>
          </p:cNvSpPr>
          <p:nvPr>
            <p:ph idx="1"/>
          </p:nvPr>
        </p:nvSpPr>
        <p:spPr>
          <a:xfrm>
            <a:off x="2296904" y="2113635"/>
            <a:ext cx="2885916" cy="2137870"/>
          </a:xfrm>
        </p:spPr>
        <p:txBody>
          <a:bodyPr>
            <a:normAutofit/>
          </a:bodyPr>
          <a:lstStyle/>
          <a:p>
            <a:r>
              <a:rPr lang="en-US" b="1" dirty="0">
                <a:solidFill>
                  <a:srgbClr val="232323"/>
                </a:solidFill>
                <a:latin typeface="Arabic Typesetting" panose="03020402040406030203" pitchFamily="66" charset="-78"/>
                <a:cs typeface="Arabic Typesetting" panose="03020402040406030203" pitchFamily="66" charset="-78"/>
              </a:rPr>
              <a:t>Freelancing</a:t>
            </a:r>
            <a:endParaRPr lang="en-US" b="1" i="0" dirty="0">
              <a:solidFill>
                <a:srgbClr val="232323"/>
              </a:solidFill>
              <a:effectLst/>
              <a:latin typeface="Arabic Typesetting" panose="03020402040406030203" pitchFamily="66" charset="-78"/>
              <a:cs typeface="Arabic Typesetting" panose="03020402040406030203" pitchFamily="66" charset="-78"/>
            </a:endParaRPr>
          </a:p>
          <a:p>
            <a:r>
              <a:rPr lang="en-US" b="1" i="0" dirty="0">
                <a:solidFill>
                  <a:srgbClr val="232323"/>
                </a:solidFill>
                <a:effectLst/>
                <a:latin typeface="Arabic Typesetting" panose="03020402040406030203" pitchFamily="66" charset="-78"/>
                <a:cs typeface="Arabic Typesetting" panose="03020402040406030203" pitchFamily="66" charset="-78"/>
              </a:rPr>
              <a:t>Illiteracy</a:t>
            </a:r>
          </a:p>
          <a:p>
            <a:r>
              <a:rPr lang="en-US" b="1" i="0" dirty="0">
                <a:solidFill>
                  <a:srgbClr val="232323"/>
                </a:solidFill>
                <a:effectLst/>
                <a:latin typeface="Arabic Typesetting" panose="03020402040406030203" pitchFamily="66" charset="-78"/>
                <a:cs typeface="Arabic Typesetting" panose="03020402040406030203" pitchFamily="66" charset="-78"/>
              </a:rPr>
              <a:t>Poverty</a:t>
            </a:r>
          </a:p>
          <a:p>
            <a:r>
              <a:rPr lang="en-US" b="1" i="0" dirty="0">
                <a:solidFill>
                  <a:srgbClr val="232323"/>
                </a:solidFill>
                <a:effectLst/>
                <a:latin typeface="Arabic Typesetting" panose="03020402040406030203" pitchFamily="66" charset="-78"/>
                <a:cs typeface="Arabic Typesetting" panose="03020402040406030203" pitchFamily="66" charset="-78"/>
              </a:rPr>
              <a:t>Weak Economy</a:t>
            </a:r>
          </a:p>
          <a:p>
            <a:pPr marL="0" indent="0">
              <a:buNone/>
            </a:pPr>
            <a:endParaRPr lang="en-US" b="1" i="0" dirty="0">
              <a:solidFill>
                <a:srgbClr val="232323"/>
              </a:solidFill>
              <a:effectLst/>
              <a:latin typeface="Arabic Typesetting" panose="03020402040406030203" pitchFamily="66" charset="-78"/>
              <a:cs typeface="Arabic Typesetting" panose="03020402040406030203" pitchFamily="66" charset="-78"/>
            </a:endParaRPr>
          </a:p>
          <a:p>
            <a:endParaRPr lang="en-US" sz="2000" b="1" i="0" dirty="0">
              <a:solidFill>
                <a:srgbClr val="232323"/>
              </a:solidFill>
              <a:effectLst/>
              <a:latin typeface="trebuchet ms" panose="020B0603020202020204" pitchFamily="34" charset="0"/>
            </a:endParaRPr>
          </a:p>
          <a:p>
            <a:endParaRPr lang="en-US" dirty="0"/>
          </a:p>
        </p:txBody>
      </p:sp>
    </p:spTree>
    <p:extLst>
      <p:ext uri="{BB962C8B-B14F-4D97-AF65-F5344CB8AC3E}">
        <p14:creationId xmlns:p14="http://schemas.microsoft.com/office/powerpoint/2010/main" val="1101633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EF7B0-5DFF-04E6-BA46-E78DD8143251}"/>
              </a:ext>
            </a:extLst>
          </p:cNvPr>
          <p:cNvSpPr>
            <a:spLocks noGrp="1"/>
          </p:cNvSpPr>
          <p:nvPr>
            <p:ph type="title"/>
          </p:nvPr>
        </p:nvSpPr>
        <p:spPr>
          <a:xfrm>
            <a:off x="4266589" y="281175"/>
            <a:ext cx="2443281" cy="763524"/>
          </a:xfrm>
        </p:spPr>
        <p:txBody>
          <a:bodyPr/>
          <a:lstStyle/>
          <a:p>
            <a:r>
              <a:rPr lang="en-US" b="1" dirty="0"/>
              <a:t>Freelancing</a:t>
            </a:r>
            <a:endParaRPr lang="en-AE" b="1" dirty="0"/>
          </a:p>
        </p:txBody>
      </p:sp>
      <p:sp>
        <p:nvSpPr>
          <p:cNvPr id="3" name="Content Placeholder 2">
            <a:extLst>
              <a:ext uri="{FF2B5EF4-FFF2-40B4-BE49-F238E27FC236}">
                <a16:creationId xmlns:a16="http://schemas.microsoft.com/office/drawing/2014/main" id="{7F9A097B-CE6D-0555-6D74-418F3AE7A5A3}"/>
              </a:ext>
            </a:extLst>
          </p:cNvPr>
          <p:cNvSpPr>
            <a:spLocks noGrp="1"/>
          </p:cNvSpPr>
          <p:nvPr>
            <p:ph idx="1"/>
          </p:nvPr>
        </p:nvSpPr>
        <p:spPr>
          <a:xfrm>
            <a:off x="296261" y="1502815"/>
            <a:ext cx="4886560" cy="2901396"/>
          </a:xfrm>
        </p:spPr>
        <p:txBody>
          <a:bodyPr>
            <a:normAutofit lnSpcReduction="10000"/>
          </a:bodyPr>
          <a:lstStyle/>
          <a:p>
            <a:pPr marL="0" indent="0">
              <a:buNone/>
            </a:pPr>
            <a:r>
              <a:rPr lang="en-US" sz="2400" i="0" dirty="0">
                <a:solidFill>
                  <a:srgbClr val="242A3A"/>
                </a:solidFill>
                <a:effectLst/>
                <a:latin typeface="Arabic Typesetting" panose="03020402040406030203" pitchFamily="66" charset="-78"/>
                <a:cs typeface="Arabic Typesetting" panose="03020402040406030203" pitchFamily="66" charset="-78"/>
              </a:rPr>
              <a:t>Pakistan ranked </a:t>
            </a:r>
            <a:r>
              <a:rPr lang="en-US" sz="2400" dirty="0">
                <a:solidFill>
                  <a:srgbClr val="242A3A"/>
                </a:solidFill>
                <a:latin typeface="Arabic Typesetting" panose="03020402040406030203" pitchFamily="66" charset="-78"/>
                <a:cs typeface="Arabic Typesetting" panose="03020402040406030203" pitchFamily="66" charset="-78"/>
              </a:rPr>
              <a:t>a</a:t>
            </a:r>
            <a:r>
              <a:rPr lang="en-US" sz="2400" i="0" dirty="0">
                <a:solidFill>
                  <a:srgbClr val="242A3A"/>
                </a:solidFill>
                <a:effectLst/>
                <a:latin typeface="Arabic Typesetting" panose="03020402040406030203" pitchFamily="66" charset="-78"/>
                <a:cs typeface="Arabic Typesetting" panose="03020402040406030203" pitchFamily="66" charset="-78"/>
              </a:rPr>
              <a:t>mong </a:t>
            </a:r>
            <a:r>
              <a:rPr lang="en-US" sz="2400" dirty="0">
                <a:solidFill>
                  <a:srgbClr val="242A3A"/>
                </a:solidFill>
                <a:latin typeface="Arabic Typesetting" panose="03020402040406030203" pitchFamily="66" charset="-78"/>
                <a:cs typeface="Arabic Typesetting" panose="03020402040406030203" pitchFamily="66" charset="-78"/>
              </a:rPr>
              <a:t>t</a:t>
            </a:r>
            <a:r>
              <a:rPr lang="en-US" sz="2400" i="0" dirty="0">
                <a:solidFill>
                  <a:srgbClr val="242A3A"/>
                </a:solidFill>
                <a:effectLst/>
                <a:latin typeface="Arabic Typesetting" panose="03020402040406030203" pitchFamily="66" charset="-78"/>
                <a:cs typeface="Arabic Typesetting" panose="03020402040406030203" pitchFamily="66" charset="-78"/>
              </a:rPr>
              <a:t>op 5 freelancer </a:t>
            </a:r>
            <a:r>
              <a:rPr lang="en-US" sz="2400" dirty="0">
                <a:solidFill>
                  <a:srgbClr val="242A3A"/>
                </a:solidFill>
                <a:latin typeface="Arabic Typesetting" panose="03020402040406030203" pitchFamily="66" charset="-78"/>
                <a:cs typeface="Arabic Typesetting" panose="03020402040406030203" pitchFamily="66" charset="-78"/>
              </a:rPr>
              <a:t>m</a:t>
            </a:r>
            <a:r>
              <a:rPr lang="en-US" sz="2400" i="0" dirty="0">
                <a:solidFill>
                  <a:srgbClr val="242A3A"/>
                </a:solidFill>
                <a:effectLst/>
                <a:latin typeface="Arabic Typesetting" panose="03020402040406030203" pitchFamily="66" charset="-78"/>
                <a:cs typeface="Arabic Typesetting" panose="03020402040406030203" pitchFamily="66" charset="-78"/>
              </a:rPr>
              <a:t>arkets.</a:t>
            </a:r>
            <a:r>
              <a:rPr lang="en-US" sz="2400" b="0" i="0" dirty="0">
                <a:solidFill>
                  <a:srgbClr val="313131"/>
                </a:solidFill>
                <a:effectLst/>
                <a:latin typeface="Arabic Typesetting" panose="03020402040406030203" pitchFamily="66" charset="-78"/>
                <a:cs typeface="Arabic Typesetting" panose="03020402040406030203" pitchFamily="66" charset="-78"/>
              </a:rPr>
              <a:t> Pakistan has huge potential when it comes to freelance services considering that 70% of the total population is under the age of 30. In the recently published by </a:t>
            </a:r>
            <a:r>
              <a:rPr lang="en-US" sz="2400" b="0" i="0" dirty="0" err="1">
                <a:solidFill>
                  <a:srgbClr val="313131"/>
                </a:solidFill>
                <a:effectLst/>
                <a:latin typeface="Arabic Typesetting" panose="03020402040406030203" pitchFamily="66" charset="-78"/>
                <a:cs typeface="Arabic Typesetting" panose="03020402040406030203" pitchFamily="66" charset="-78"/>
              </a:rPr>
              <a:t>Payoneer</a:t>
            </a:r>
            <a:r>
              <a:rPr lang="en-US" sz="2400" b="0" i="0" dirty="0">
                <a:solidFill>
                  <a:srgbClr val="313131"/>
                </a:solidFill>
                <a:effectLst/>
                <a:latin typeface="Arabic Typesetting" panose="03020402040406030203" pitchFamily="66" charset="-78"/>
                <a:cs typeface="Arabic Typesetting" panose="03020402040406030203" pitchFamily="66" charset="-78"/>
              </a:rPr>
              <a:t> rankings for freelance markets, Pakistan has been ranked at 4th, well above India and </a:t>
            </a:r>
            <a:r>
              <a:rPr lang="en-US" sz="2400" b="0" i="0" dirty="0" err="1">
                <a:solidFill>
                  <a:srgbClr val="313131"/>
                </a:solidFill>
                <a:effectLst/>
                <a:latin typeface="Arabic Typesetting" panose="03020402040406030203" pitchFamily="66" charset="-78"/>
                <a:cs typeface="Arabic Typesetting" panose="03020402040406030203" pitchFamily="66" charset="-78"/>
              </a:rPr>
              <a:t>Bangladesh.These</a:t>
            </a:r>
            <a:r>
              <a:rPr lang="en-US" sz="2400" b="0" i="0" dirty="0">
                <a:solidFill>
                  <a:srgbClr val="313131"/>
                </a:solidFill>
                <a:effectLst/>
                <a:latin typeface="Arabic Typesetting" panose="03020402040406030203" pitchFamily="66" charset="-78"/>
                <a:cs typeface="Arabic Typesetting" panose="03020402040406030203" pitchFamily="66" charset="-78"/>
              </a:rPr>
              <a:t> stats are amazing for dream of digital Pakistan.</a:t>
            </a:r>
            <a:endParaRPr lang="en-AE" dirty="0"/>
          </a:p>
        </p:txBody>
      </p:sp>
      <p:pic>
        <p:nvPicPr>
          <p:cNvPr id="7170" name="Picture 2" descr="See the source image">
            <a:extLst>
              <a:ext uri="{FF2B5EF4-FFF2-40B4-BE49-F238E27FC236}">
                <a16:creationId xmlns:a16="http://schemas.microsoft.com/office/drawing/2014/main" id="{674A86B1-8D5C-35A4-C9C7-0FA14ED201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5526" y="1197406"/>
            <a:ext cx="3664920" cy="167975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See the source image">
            <a:extLst>
              <a:ext uri="{FF2B5EF4-FFF2-40B4-BE49-F238E27FC236}">
                <a16:creationId xmlns:a16="http://schemas.microsoft.com/office/drawing/2014/main" id="{3C1FFED2-F7E2-A354-B486-5CB0610627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2820" y="3029867"/>
            <a:ext cx="3817626" cy="1832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826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30115" y="433880"/>
            <a:ext cx="1832460" cy="607132"/>
          </a:xfrm>
        </p:spPr>
        <p:txBody>
          <a:bodyPr>
            <a:normAutofit fontScale="90000"/>
          </a:bodyPr>
          <a:lstStyle/>
          <a:p>
            <a:r>
              <a:rPr lang="en-US" b="1" i="0" dirty="0">
                <a:effectLst/>
              </a:rPr>
              <a:t>Illiteracy</a:t>
            </a:r>
            <a:br>
              <a:rPr lang="en-US" b="1" i="0" dirty="0">
                <a:solidFill>
                  <a:srgbClr val="232323"/>
                </a:solidFill>
                <a:effectLst/>
                <a:latin typeface="trebuchet ms" panose="020B0603020202020204" pitchFamily="34" charset="0"/>
              </a:rPr>
            </a:br>
            <a:endParaRPr lang="en-US" dirty="0"/>
          </a:p>
        </p:txBody>
      </p:sp>
      <p:sp>
        <p:nvSpPr>
          <p:cNvPr id="10" name="TextBox 9">
            <a:extLst>
              <a:ext uri="{FF2B5EF4-FFF2-40B4-BE49-F238E27FC236}">
                <a16:creationId xmlns:a16="http://schemas.microsoft.com/office/drawing/2014/main" id="{421DAFBD-4006-D557-B604-2B79C99380ED}"/>
              </a:ext>
            </a:extLst>
          </p:cNvPr>
          <p:cNvSpPr txBox="1"/>
          <p:nvPr/>
        </p:nvSpPr>
        <p:spPr>
          <a:xfrm>
            <a:off x="143555" y="1502815"/>
            <a:ext cx="5039265" cy="2677656"/>
          </a:xfrm>
          <a:prstGeom prst="rect">
            <a:avLst/>
          </a:prstGeom>
          <a:noFill/>
        </p:spPr>
        <p:txBody>
          <a:bodyPr wrap="square">
            <a:spAutoFit/>
          </a:bodyPr>
          <a:lstStyle/>
          <a:p>
            <a:r>
              <a:rPr lang="en-US" sz="2800" b="0" i="0" dirty="0">
                <a:solidFill>
                  <a:srgbClr val="444444"/>
                </a:solidFill>
                <a:effectLst/>
                <a:latin typeface="Arabic Typesetting" panose="03020402040406030203" pitchFamily="66" charset="-78"/>
                <a:cs typeface="Arabic Typesetting" panose="03020402040406030203" pitchFamily="66" charset="-78"/>
              </a:rPr>
              <a:t>A large chunk of the population, </a:t>
            </a:r>
            <a:r>
              <a:rPr lang="en-US" sz="2800" dirty="0">
                <a:solidFill>
                  <a:srgbClr val="444444"/>
                </a:solidFill>
                <a:latin typeface="Arabic Typesetting" panose="03020402040406030203" pitchFamily="66" charset="-78"/>
                <a:cs typeface="Arabic Typesetting" panose="03020402040406030203" pitchFamily="66" charset="-78"/>
              </a:rPr>
              <a:t>almost</a:t>
            </a:r>
            <a:r>
              <a:rPr lang="en-US" sz="2800" b="0" i="0" dirty="0">
                <a:solidFill>
                  <a:srgbClr val="444444"/>
                </a:solidFill>
                <a:effectLst/>
                <a:latin typeface="Arabic Typesetting" panose="03020402040406030203" pitchFamily="66" charset="-78"/>
                <a:cs typeface="Arabic Typesetting" panose="03020402040406030203" pitchFamily="66" charset="-78"/>
              </a:rPr>
              <a:t> 42%, is illiterate. Pakistan’s youth literacy rate is 71%, which means 29% of youth are illiterate (</a:t>
            </a:r>
            <a:r>
              <a:rPr lang="en-US" sz="2800" b="0" i="0" u="none" strike="noStrike" dirty="0">
                <a:solidFill>
                  <a:srgbClr val="DA463A"/>
                </a:solidFill>
                <a:effectLst/>
                <a:latin typeface="Arabic Typesetting" panose="03020402040406030203" pitchFamily="66" charset="-78"/>
                <a:cs typeface="Arabic Typesetting" panose="03020402040406030203" pitchFamily="66" charset="-78"/>
                <a:hlinkClick r:id="rId2"/>
              </a:rPr>
              <a:t>Report</a:t>
            </a:r>
            <a:r>
              <a:rPr lang="en-US" sz="2800" b="0" i="0" dirty="0">
                <a:solidFill>
                  <a:srgbClr val="444444"/>
                </a:solidFill>
                <a:effectLst/>
                <a:latin typeface="Arabic Typesetting" panose="03020402040406030203" pitchFamily="66" charset="-78"/>
                <a:cs typeface="Arabic Typesetting" panose="03020402040406030203" pitchFamily="66" charset="-78"/>
              </a:rPr>
              <a:t>). For such people, using Information and Communication Technology would be a challenge. </a:t>
            </a:r>
            <a:endParaRPr lang="en-AE" sz="2800" dirty="0">
              <a:latin typeface="Arabic Typesetting" panose="03020402040406030203" pitchFamily="66" charset="-78"/>
              <a:cs typeface="Arabic Typesetting" panose="03020402040406030203" pitchFamily="66" charset="-78"/>
            </a:endParaRPr>
          </a:p>
        </p:txBody>
      </p:sp>
      <p:pic>
        <p:nvPicPr>
          <p:cNvPr id="4098" name="Picture 2" descr="See the source image">
            <a:extLst>
              <a:ext uri="{FF2B5EF4-FFF2-40B4-BE49-F238E27FC236}">
                <a16:creationId xmlns:a16="http://schemas.microsoft.com/office/drawing/2014/main" id="{189421E7-2100-B563-B439-0483A0C5C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5525" y="1502815"/>
            <a:ext cx="3664920" cy="317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0783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C4303-0221-9F78-169D-8118BF8FAB14}"/>
              </a:ext>
            </a:extLst>
          </p:cNvPr>
          <p:cNvSpPr>
            <a:spLocks noGrp="1"/>
          </p:cNvSpPr>
          <p:nvPr>
            <p:ph type="title"/>
          </p:nvPr>
        </p:nvSpPr>
        <p:spPr>
          <a:xfrm>
            <a:off x="4113885" y="281175"/>
            <a:ext cx="3359510" cy="763524"/>
          </a:xfrm>
        </p:spPr>
        <p:txBody>
          <a:bodyPr>
            <a:normAutofit fontScale="90000"/>
          </a:bodyPr>
          <a:lstStyle/>
          <a:p>
            <a:pPr algn="l"/>
            <a:r>
              <a:rPr lang="en-US" b="1" i="0" dirty="0">
                <a:effectLst/>
              </a:rPr>
              <a:t>Poverty</a:t>
            </a:r>
            <a:br>
              <a:rPr lang="en-US" b="1" i="0" dirty="0">
                <a:effectLst/>
              </a:rPr>
            </a:br>
            <a:endParaRPr lang="en-AE" dirty="0"/>
          </a:p>
        </p:txBody>
      </p:sp>
      <p:sp>
        <p:nvSpPr>
          <p:cNvPr id="3" name="Content Placeholder 2">
            <a:extLst>
              <a:ext uri="{FF2B5EF4-FFF2-40B4-BE49-F238E27FC236}">
                <a16:creationId xmlns:a16="http://schemas.microsoft.com/office/drawing/2014/main" id="{FD4FCB9E-B6F1-6473-1EE8-0E7D518C8756}"/>
              </a:ext>
            </a:extLst>
          </p:cNvPr>
          <p:cNvSpPr>
            <a:spLocks noGrp="1"/>
          </p:cNvSpPr>
          <p:nvPr>
            <p:ph idx="1"/>
          </p:nvPr>
        </p:nvSpPr>
        <p:spPr>
          <a:xfrm>
            <a:off x="448965" y="1197406"/>
            <a:ext cx="8551480" cy="1985164"/>
          </a:xfrm>
        </p:spPr>
        <p:txBody>
          <a:bodyPr>
            <a:normAutofit/>
          </a:bodyPr>
          <a:lstStyle/>
          <a:p>
            <a:pPr marL="0" indent="0">
              <a:buNone/>
            </a:pPr>
            <a:r>
              <a:rPr lang="en-US" sz="2400" b="0" i="0" dirty="0">
                <a:solidFill>
                  <a:srgbClr val="444444"/>
                </a:solidFill>
                <a:effectLst/>
                <a:latin typeface="Arabic Typesetting" panose="03020402040406030203" pitchFamily="66" charset="-78"/>
                <a:cs typeface="Arabic Typesetting" panose="03020402040406030203" pitchFamily="66" charset="-78"/>
              </a:rPr>
              <a:t>As per the latest poverty </a:t>
            </a:r>
            <a:r>
              <a:rPr lang="en-US" sz="2400" b="0" i="0" u="none" strike="noStrike" dirty="0">
                <a:solidFill>
                  <a:srgbClr val="DA463A"/>
                </a:solidFill>
                <a:effectLst/>
                <a:latin typeface="Arabic Typesetting" panose="03020402040406030203" pitchFamily="66" charset="-78"/>
                <a:cs typeface="Arabic Typesetting" panose="03020402040406030203" pitchFamily="66" charset="-78"/>
                <a:hlinkClick r:id="rId2"/>
              </a:rPr>
              <a:t>estimates</a:t>
            </a:r>
            <a:r>
              <a:rPr lang="en-US" sz="2400" b="0" i="0" dirty="0">
                <a:solidFill>
                  <a:srgbClr val="444444"/>
                </a:solidFill>
                <a:effectLst/>
                <a:latin typeface="Arabic Typesetting" panose="03020402040406030203" pitchFamily="66" charset="-78"/>
                <a:cs typeface="Arabic Typesetting" panose="03020402040406030203" pitchFamily="66" charset="-78"/>
              </a:rPr>
              <a:t>, 24% of Pakistan’s population lives below the poverty line; including 31% in rural areas and 13% in urban areas. Owing to poverty, most of the Pakistani population is unable to buy technological gadgets including smartphones, laptops, or internet facilities. In presence of such social constraints, technology, and digitalization in Pakistan would not bear the desired fruits.</a:t>
            </a:r>
            <a:endParaRPr lang="en-AE" sz="2400" dirty="0">
              <a:latin typeface="Arabic Typesetting" panose="03020402040406030203" pitchFamily="66" charset="-78"/>
              <a:cs typeface="Arabic Typesetting" panose="03020402040406030203" pitchFamily="66" charset="-78"/>
            </a:endParaRPr>
          </a:p>
        </p:txBody>
      </p:sp>
      <p:pic>
        <p:nvPicPr>
          <p:cNvPr id="5122" name="Picture 2" descr="See the source image">
            <a:extLst>
              <a:ext uri="{FF2B5EF4-FFF2-40B4-BE49-F238E27FC236}">
                <a16:creationId xmlns:a16="http://schemas.microsoft.com/office/drawing/2014/main" id="{41EC82AC-01A0-7BE7-FFF1-AEF4F4DDCA3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25" y="3158336"/>
            <a:ext cx="2107410" cy="170398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ee the source image">
            <a:extLst>
              <a:ext uri="{FF2B5EF4-FFF2-40B4-BE49-F238E27FC236}">
                <a16:creationId xmlns:a16="http://schemas.microsoft.com/office/drawing/2014/main" id="{CFD9F6E7-86CA-EC05-4D4F-2EF3A308482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09870" y="3182570"/>
            <a:ext cx="2290575" cy="167975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See the source image">
            <a:extLst>
              <a:ext uri="{FF2B5EF4-FFF2-40B4-BE49-F238E27FC236}">
                <a16:creationId xmlns:a16="http://schemas.microsoft.com/office/drawing/2014/main" id="{82D18B2E-043E-3F36-2E56-2D3D0648A22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92245" y="3182570"/>
            <a:ext cx="3664920" cy="1832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582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E145C-9258-A8C1-9F18-4034ACD21611}"/>
              </a:ext>
            </a:extLst>
          </p:cNvPr>
          <p:cNvSpPr>
            <a:spLocks noGrp="1"/>
          </p:cNvSpPr>
          <p:nvPr>
            <p:ph type="title"/>
          </p:nvPr>
        </p:nvSpPr>
        <p:spPr>
          <a:xfrm>
            <a:off x="3808475" y="376238"/>
            <a:ext cx="3206805" cy="668463"/>
          </a:xfrm>
        </p:spPr>
        <p:txBody>
          <a:bodyPr>
            <a:normAutofit fontScale="90000"/>
          </a:bodyPr>
          <a:lstStyle/>
          <a:p>
            <a:r>
              <a:rPr lang="en-US" b="1" i="0" dirty="0">
                <a:effectLst/>
              </a:rPr>
              <a:t>Weak Economy</a:t>
            </a:r>
            <a:br>
              <a:rPr lang="en-US" b="1" i="0" dirty="0">
                <a:solidFill>
                  <a:srgbClr val="232323"/>
                </a:solidFill>
                <a:effectLst/>
                <a:latin typeface="trebuchet ms" panose="020B0603020202020204" pitchFamily="34" charset="0"/>
              </a:rPr>
            </a:br>
            <a:endParaRPr lang="en-AE" dirty="0"/>
          </a:p>
        </p:txBody>
      </p:sp>
      <p:sp>
        <p:nvSpPr>
          <p:cNvPr id="3" name="Content Placeholder 2">
            <a:extLst>
              <a:ext uri="{FF2B5EF4-FFF2-40B4-BE49-F238E27FC236}">
                <a16:creationId xmlns:a16="http://schemas.microsoft.com/office/drawing/2014/main" id="{6E147161-67FF-6E08-0ED8-BE79A6708911}"/>
              </a:ext>
            </a:extLst>
          </p:cNvPr>
          <p:cNvSpPr>
            <a:spLocks noGrp="1"/>
          </p:cNvSpPr>
          <p:nvPr>
            <p:ph idx="1"/>
          </p:nvPr>
        </p:nvSpPr>
        <p:spPr>
          <a:xfrm>
            <a:off x="601669" y="1044700"/>
            <a:ext cx="8093365" cy="1832459"/>
          </a:xfrm>
        </p:spPr>
        <p:txBody>
          <a:bodyPr>
            <a:normAutofit lnSpcReduction="10000"/>
          </a:bodyPr>
          <a:lstStyle/>
          <a:p>
            <a:pPr marL="0" indent="0">
              <a:buNone/>
            </a:pPr>
            <a:r>
              <a:rPr lang="en-US" sz="2400" b="0" i="0" dirty="0">
                <a:solidFill>
                  <a:srgbClr val="444444"/>
                </a:solidFill>
                <a:effectLst/>
                <a:latin typeface="Arabic Typesetting" panose="03020402040406030203" pitchFamily="66" charset="-78"/>
                <a:cs typeface="Arabic Typesetting" panose="03020402040406030203" pitchFamily="66" charset="-78"/>
              </a:rPr>
              <a:t>For the dream of digitalized Pakistan to be materialized, the spread and availability of technological and digital knowledge is a mandatory precondition. Whereas, the government has allocated </a:t>
            </a:r>
            <a:r>
              <a:rPr lang="en-US" sz="2400" b="0" i="0" u="none" strike="noStrike" dirty="0">
                <a:solidFill>
                  <a:srgbClr val="DA463A"/>
                </a:solidFill>
                <a:effectLst/>
                <a:latin typeface="Arabic Typesetting" panose="03020402040406030203" pitchFamily="66" charset="-78"/>
                <a:cs typeface="Arabic Typesetting" panose="03020402040406030203" pitchFamily="66" charset="-78"/>
                <a:hlinkClick r:id="rId2"/>
              </a:rPr>
              <a:t>a mere 2.3%</a:t>
            </a:r>
            <a:r>
              <a:rPr lang="en-US" sz="2400" b="0" i="0" dirty="0">
                <a:solidFill>
                  <a:srgbClr val="444444"/>
                </a:solidFill>
                <a:effectLst/>
                <a:latin typeface="Arabic Typesetting" panose="03020402040406030203" pitchFamily="66" charset="-78"/>
                <a:cs typeface="Arabic Typesetting" panose="03020402040406030203" pitchFamily="66" charset="-78"/>
              </a:rPr>
              <a:t>  to the education sector in the year 2019-20,  in terms of GDP. With such meager economic resources and budget allocation, digital and technological knowledge and skills cannot be imparted or made available to the masses.</a:t>
            </a:r>
            <a:endParaRPr lang="en-AE" sz="2400" dirty="0">
              <a:latin typeface="Arabic Typesetting" panose="03020402040406030203" pitchFamily="66" charset="-78"/>
              <a:cs typeface="Arabic Typesetting" panose="03020402040406030203" pitchFamily="66" charset="-78"/>
            </a:endParaRPr>
          </a:p>
        </p:txBody>
      </p:sp>
      <p:pic>
        <p:nvPicPr>
          <p:cNvPr id="6146" name="Picture 2" descr="See the source image">
            <a:extLst>
              <a:ext uri="{FF2B5EF4-FFF2-40B4-BE49-F238E27FC236}">
                <a16:creationId xmlns:a16="http://schemas.microsoft.com/office/drawing/2014/main" id="{DE7F0C0A-EF8B-4DC1-88A9-5DB7C587D6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260" y="3182570"/>
            <a:ext cx="2595985" cy="164224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See the source image">
            <a:extLst>
              <a:ext uri="{FF2B5EF4-FFF2-40B4-BE49-F238E27FC236}">
                <a16:creationId xmlns:a16="http://schemas.microsoft.com/office/drawing/2014/main" id="{3B24DF50-0F8C-68AE-F0FB-09AF744084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9050" y="3029865"/>
            <a:ext cx="2901395" cy="183246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See the source image">
            <a:extLst>
              <a:ext uri="{FF2B5EF4-FFF2-40B4-BE49-F238E27FC236}">
                <a16:creationId xmlns:a16="http://schemas.microsoft.com/office/drawing/2014/main" id="{F0F9ED4B-FFE6-0998-9D14-4EFD0E7809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4949" y="3182569"/>
            <a:ext cx="2901395" cy="1679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7173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DA24C-291A-8F69-55E7-C9C57F11A24D}"/>
              </a:ext>
            </a:extLst>
          </p:cNvPr>
          <p:cNvSpPr>
            <a:spLocks noGrp="1"/>
          </p:cNvSpPr>
          <p:nvPr>
            <p:ph type="title"/>
          </p:nvPr>
        </p:nvSpPr>
        <p:spPr>
          <a:xfrm>
            <a:off x="3961180" y="281175"/>
            <a:ext cx="2748691" cy="763524"/>
          </a:xfrm>
        </p:spPr>
        <p:txBody>
          <a:bodyPr>
            <a:normAutofit fontScale="90000"/>
          </a:bodyPr>
          <a:lstStyle/>
          <a:p>
            <a:r>
              <a:rPr lang="en-US" b="1" i="0" dirty="0">
                <a:effectLst/>
              </a:rPr>
              <a:t>Conclusion</a:t>
            </a:r>
            <a:br>
              <a:rPr lang="en-US" b="1" i="0" dirty="0">
                <a:solidFill>
                  <a:srgbClr val="232323"/>
                </a:solidFill>
                <a:effectLst/>
                <a:latin typeface="trebuchet ms" panose="020B0603020202020204" pitchFamily="34" charset="0"/>
              </a:rPr>
            </a:br>
            <a:endParaRPr lang="en-AE" dirty="0"/>
          </a:p>
        </p:txBody>
      </p:sp>
      <p:sp>
        <p:nvSpPr>
          <p:cNvPr id="3" name="Content Placeholder 2">
            <a:extLst>
              <a:ext uri="{FF2B5EF4-FFF2-40B4-BE49-F238E27FC236}">
                <a16:creationId xmlns:a16="http://schemas.microsoft.com/office/drawing/2014/main" id="{3FCA5C1E-6A41-55B4-36A2-C152A7756DDF}"/>
              </a:ext>
            </a:extLst>
          </p:cNvPr>
          <p:cNvSpPr>
            <a:spLocks noGrp="1"/>
          </p:cNvSpPr>
          <p:nvPr>
            <p:ph idx="1"/>
          </p:nvPr>
        </p:nvSpPr>
        <p:spPr>
          <a:xfrm>
            <a:off x="448965" y="1502814"/>
            <a:ext cx="8246070" cy="1068935"/>
          </a:xfrm>
        </p:spPr>
        <p:txBody>
          <a:bodyPr>
            <a:normAutofit/>
          </a:bodyPr>
          <a:lstStyle/>
          <a:p>
            <a:pPr marL="0" indent="0">
              <a:buNone/>
            </a:pPr>
            <a:r>
              <a:rPr lang="en-US" sz="3200" b="0" i="0" dirty="0">
                <a:solidFill>
                  <a:srgbClr val="444444"/>
                </a:solidFill>
                <a:effectLst/>
                <a:latin typeface="Arabic Typesetting" panose="03020402040406030203" pitchFamily="66" charset="-78"/>
                <a:cs typeface="Arabic Typesetting" panose="03020402040406030203" pitchFamily="66" charset="-78"/>
              </a:rPr>
              <a:t>Here, without writing any specific conclusion, I think it would be better to leave this topic </a:t>
            </a:r>
            <a:r>
              <a:rPr lang="en-US" sz="3200" b="0" i="0">
                <a:solidFill>
                  <a:srgbClr val="444444"/>
                </a:solidFill>
                <a:effectLst/>
                <a:latin typeface="Arabic Typesetting" panose="03020402040406030203" pitchFamily="66" charset="-78"/>
                <a:cs typeface="Arabic Typesetting" panose="03020402040406030203" pitchFamily="66" charset="-78"/>
              </a:rPr>
              <a:t>open-ended for </a:t>
            </a:r>
            <a:r>
              <a:rPr lang="en-US" sz="3200" b="0" i="0" dirty="0">
                <a:solidFill>
                  <a:srgbClr val="444444"/>
                </a:solidFill>
                <a:effectLst/>
                <a:latin typeface="Arabic Typesetting" panose="03020402040406030203" pitchFamily="66" charset="-78"/>
                <a:cs typeface="Arabic Typesetting" panose="03020402040406030203" pitchFamily="66" charset="-78"/>
              </a:rPr>
              <a:t>you.</a:t>
            </a:r>
            <a:endParaRPr lang="en-AE" sz="3200" dirty="0">
              <a:latin typeface="Arabic Typesetting" panose="03020402040406030203" pitchFamily="66" charset="-78"/>
              <a:cs typeface="Arabic Typesetting" panose="03020402040406030203" pitchFamily="66" charset="-78"/>
            </a:endParaRPr>
          </a:p>
        </p:txBody>
      </p:sp>
      <p:pic>
        <p:nvPicPr>
          <p:cNvPr id="8194" name="Picture 2" descr="See the source image">
            <a:extLst>
              <a:ext uri="{FF2B5EF4-FFF2-40B4-BE49-F238E27FC236}">
                <a16:creationId xmlns:a16="http://schemas.microsoft.com/office/drawing/2014/main" id="{DD6522EC-828D-107F-D6C9-1F37E293C1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605" y="2724454"/>
            <a:ext cx="5650085" cy="2137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95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480</Words>
  <Application>Microsoft Office PowerPoint</Application>
  <PresentationFormat>On-screen Show (16:9)</PresentationFormat>
  <Paragraphs>28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Agency FB</vt:lpstr>
      <vt:lpstr>Arabic Typesetting</vt:lpstr>
      <vt:lpstr>Arial</vt:lpstr>
      <vt:lpstr>Calibri</vt:lpstr>
      <vt:lpstr>Poppins</vt:lpstr>
      <vt:lpstr>trebuchet ms</vt:lpstr>
      <vt:lpstr>Office Theme</vt:lpstr>
      <vt:lpstr>Is Pakistan Ready for Digital Revolution?</vt:lpstr>
      <vt:lpstr>Role of PTI government</vt:lpstr>
      <vt:lpstr>PTI’s Digital Policy  </vt:lpstr>
      <vt:lpstr>Role of past Governments</vt:lpstr>
      <vt:lpstr>Is Pakistan Ready for Digital Revolution? </vt:lpstr>
      <vt:lpstr>Freelancing</vt:lpstr>
      <vt:lpstr>Illiteracy </vt:lpstr>
      <vt:lpstr>Poverty </vt:lpstr>
      <vt:lpstr>Weak Economy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2017-08-01T15:40:51Z</dcterms:created>
  <dcterms:modified xsi:type="dcterms:W3CDTF">2022-06-28T22:29:54Z</dcterms:modified>
</cp:coreProperties>
</file>