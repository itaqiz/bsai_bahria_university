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6"/>
  </p:handoutMasterIdLst>
  <p:sldIdLst>
    <p:sldId id="256" r:id="rId2"/>
    <p:sldId id="257" r:id="rId3"/>
    <p:sldId id="270" r:id="rId4"/>
    <p:sldId id="258" r:id="rId5"/>
    <p:sldId id="259" r:id="rId6"/>
    <p:sldId id="260" r:id="rId7"/>
    <p:sldId id="261" r:id="rId8"/>
    <p:sldId id="262" r:id="rId9"/>
    <p:sldId id="263" r:id="rId10"/>
    <p:sldId id="266" r:id="rId11"/>
    <p:sldId id="265" r:id="rId12"/>
    <p:sldId id="267" r:id="rId13"/>
    <p:sldId id="269" r:id="rId14"/>
    <p:sldId id="268" r:id="rId15"/>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8" d="100"/>
          <a:sy n="68" d="100"/>
        </p:scale>
        <p:origin x="1264" y="56"/>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348038" y="4868863"/>
            <a:ext cx="6048375" cy="1109662"/>
          </a:xfrm>
        </p:spPr>
        <p:txBody>
          <a:bodyPr/>
          <a:lstStyle>
            <a:lvl1pPr>
              <a:defRPr sz="3200" b="1">
                <a:solidFill>
                  <a:schemeClr val="bg1"/>
                </a:solidFill>
              </a:defRPr>
            </a:lvl1pPr>
          </a:lstStyle>
          <a:p>
            <a:pPr lvl="0"/>
            <a:r>
              <a:rPr lang="en-US" noProof="0"/>
              <a:t>Click to edit Master title style</a:t>
            </a:r>
            <a:endParaRPr lang="ru-RU" noProof="0"/>
          </a:p>
        </p:txBody>
      </p:sp>
      <p:sp>
        <p:nvSpPr>
          <p:cNvPr id="5123" name="Rectangle 3"/>
          <p:cNvSpPr>
            <a:spLocks noGrp="1" noChangeArrowheads="1"/>
          </p:cNvSpPr>
          <p:nvPr>
            <p:ph type="subTitle" idx="1"/>
          </p:nvPr>
        </p:nvSpPr>
        <p:spPr>
          <a:xfrm>
            <a:off x="3348038" y="5729288"/>
            <a:ext cx="6048375" cy="696912"/>
          </a:xfrm>
        </p:spPr>
        <p:txBody>
          <a:bodyPr/>
          <a:lstStyle>
            <a:lvl1pPr marL="0" indent="0">
              <a:buFontTx/>
              <a:buNone/>
              <a:defRPr sz="2400" b="1">
                <a:solidFill>
                  <a:schemeClr val="bg1"/>
                </a:solidFill>
              </a:defRPr>
            </a:lvl1pPr>
          </a:lstStyle>
          <a:p>
            <a:pPr lvl="0"/>
            <a:r>
              <a:rPr lang="en-US" noProof="0"/>
              <a:t>Click to edit Master subtitle style</a:t>
            </a:r>
            <a:endParaRPr lang="ru-RU"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Объект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Объект 2"/>
          <p:cNvSpPr>
            <a:spLocks noGrp="1"/>
          </p:cNvSpPr>
          <p:nvPr>
            <p:ph sz="half" idx="1"/>
          </p:nvPr>
        </p:nvSpPr>
        <p:spPr>
          <a:xfrm>
            <a:off x="1619250" y="1773238"/>
            <a:ext cx="3524250" cy="4678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Объект 3"/>
          <p:cNvSpPr>
            <a:spLocks noGrp="1"/>
          </p:cNvSpPr>
          <p:nvPr>
            <p:ph sz="half" idx="2"/>
          </p:nvPr>
        </p:nvSpPr>
        <p:spPr>
          <a:xfrm>
            <a:off x="5295900" y="1773238"/>
            <a:ext cx="3524250" cy="4678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en-US"/>
              <a:t>Click to edit Master title style</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Вертикальный текст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019925" y="1196975"/>
            <a:ext cx="1800225" cy="5254625"/>
          </a:xfrm>
        </p:spPr>
        <p:txBody>
          <a:bodyPr vert="eaVert"/>
          <a:lstStyle/>
          <a:p>
            <a:r>
              <a:rPr lang="en-US"/>
              <a:t>Click to edit Master title style</a:t>
            </a:r>
            <a:endParaRPr lang="ru-RU"/>
          </a:p>
        </p:txBody>
      </p:sp>
      <p:sp>
        <p:nvSpPr>
          <p:cNvPr id="3" name="Вертикальный текст 2"/>
          <p:cNvSpPr>
            <a:spLocks noGrp="1"/>
          </p:cNvSpPr>
          <p:nvPr>
            <p:ph type="body" orient="vert" idx="1"/>
          </p:nvPr>
        </p:nvSpPr>
        <p:spPr>
          <a:xfrm>
            <a:off x="1619250" y="1196975"/>
            <a:ext cx="5248275" cy="5254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19250" y="1196975"/>
            <a:ext cx="6553200"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ru-RU"/>
          </a:p>
        </p:txBody>
      </p:sp>
      <p:sp>
        <p:nvSpPr>
          <p:cNvPr id="1027" name="Rectangle 3"/>
          <p:cNvSpPr>
            <a:spLocks noGrp="1" noChangeArrowheads="1"/>
          </p:cNvSpPr>
          <p:nvPr>
            <p:ph type="body" idx="1"/>
          </p:nvPr>
        </p:nvSpPr>
        <p:spPr bwMode="auto">
          <a:xfrm>
            <a:off x="1619250" y="1773238"/>
            <a:ext cx="7200900" cy="4678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3600">
          <a:solidFill>
            <a:schemeClr val="bg2"/>
          </a:solidFill>
          <a:latin typeface="+mj-lt"/>
          <a:ea typeface="+mj-ea"/>
          <a:cs typeface="+mj-cs"/>
        </a:defRPr>
      </a:lvl1pPr>
      <a:lvl2pPr algn="l" rtl="0" eaLnBrk="1" fontAlgn="base" hangingPunct="1">
        <a:spcBef>
          <a:spcPct val="0"/>
        </a:spcBef>
        <a:spcAft>
          <a:spcPct val="0"/>
        </a:spcAft>
        <a:defRPr sz="3600">
          <a:solidFill>
            <a:schemeClr val="bg2"/>
          </a:solidFill>
          <a:latin typeface="Arial" charset="0"/>
        </a:defRPr>
      </a:lvl2pPr>
      <a:lvl3pPr algn="l" rtl="0" eaLnBrk="1" fontAlgn="base" hangingPunct="1">
        <a:spcBef>
          <a:spcPct val="0"/>
        </a:spcBef>
        <a:spcAft>
          <a:spcPct val="0"/>
        </a:spcAft>
        <a:defRPr sz="3600">
          <a:solidFill>
            <a:schemeClr val="bg2"/>
          </a:solidFill>
          <a:latin typeface="Arial" charset="0"/>
        </a:defRPr>
      </a:lvl3pPr>
      <a:lvl4pPr algn="l" rtl="0" eaLnBrk="1" fontAlgn="base" hangingPunct="1">
        <a:spcBef>
          <a:spcPct val="0"/>
        </a:spcBef>
        <a:spcAft>
          <a:spcPct val="0"/>
        </a:spcAft>
        <a:defRPr sz="3600">
          <a:solidFill>
            <a:schemeClr val="bg2"/>
          </a:solidFill>
          <a:latin typeface="Arial" charset="0"/>
        </a:defRPr>
      </a:lvl4pPr>
      <a:lvl5pPr algn="l" rtl="0" eaLnBrk="1" fontAlgn="base" hangingPunct="1">
        <a:spcBef>
          <a:spcPct val="0"/>
        </a:spcBef>
        <a:spcAft>
          <a:spcPct val="0"/>
        </a:spcAft>
        <a:defRPr sz="3600">
          <a:solidFill>
            <a:schemeClr val="bg2"/>
          </a:solidFill>
          <a:latin typeface="Arial" charset="0"/>
        </a:defRPr>
      </a:lvl5pPr>
      <a:lvl6pPr marL="457200" algn="l" rtl="0" eaLnBrk="1" fontAlgn="base" hangingPunct="1">
        <a:spcBef>
          <a:spcPct val="0"/>
        </a:spcBef>
        <a:spcAft>
          <a:spcPct val="0"/>
        </a:spcAft>
        <a:defRPr sz="3600">
          <a:solidFill>
            <a:schemeClr val="bg2"/>
          </a:solidFill>
          <a:latin typeface="Arial" charset="0"/>
        </a:defRPr>
      </a:lvl6pPr>
      <a:lvl7pPr marL="914400" algn="l" rtl="0" eaLnBrk="1" fontAlgn="base" hangingPunct="1">
        <a:spcBef>
          <a:spcPct val="0"/>
        </a:spcBef>
        <a:spcAft>
          <a:spcPct val="0"/>
        </a:spcAft>
        <a:defRPr sz="3600">
          <a:solidFill>
            <a:schemeClr val="bg2"/>
          </a:solidFill>
          <a:latin typeface="Arial" charset="0"/>
        </a:defRPr>
      </a:lvl7pPr>
      <a:lvl8pPr marL="1371600" algn="l" rtl="0" eaLnBrk="1" fontAlgn="base" hangingPunct="1">
        <a:spcBef>
          <a:spcPct val="0"/>
        </a:spcBef>
        <a:spcAft>
          <a:spcPct val="0"/>
        </a:spcAft>
        <a:defRPr sz="3600">
          <a:solidFill>
            <a:schemeClr val="bg2"/>
          </a:solidFill>
          <a:latin typeface="Arial" charset="0"/>
        </a:defRPr>
      </a:lvl8pPr>
      <a:lvl9pPr marL="1828800" algn="l" rtl="0" eaLnBrk="1" fontAlgn="base" hangingPunct="1">
        <a:spcBef>
          <a:spcPct val="0"/>
        </a:spcBef>
        <a:spcAft>
          <a:spcPct val="0"/>
        </a:spcAft>
        <a:defRPr sz="3600">
          <a:solidFill>
            <a:schemeClr val="bg2"/>
          </a:solidFill>
          <a:latin typeface="Arial"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b="1">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796136" y="4509120"/>
            <a:ext cx="2952328" cy="936104"/>
          </a:xfrm>
          <a:noFill/>
        </p:spPr>
        <p:txBody>
          <a:bodyPr/>
          <a:lstStyle/>
          <a:p>
            <a:pPr eaLnBrk="1" hangingPunct="1"/>
            <a:r>
              <a:rPr lang="en-US" sz="4800" dirty="0">
                <a:latin typeface="Agency FB" panose="020B0503020202020204" pitchFamily="34" charset="0"/>
              </a:rPr>
              <a:t>Fiber Optics</a:t>
            </a:r>
            <a:endParaRPr lang="uk-UA" sz="4800" dirty="0"/>
          </a:p>
        </p:txBody>
      </p:sp>
      <p:sp>
        <p:nvSpPr>
          <p:cNvPr id="3075" name="Rectangle 3"/>
          <p:cNvSpPr>
            <a:spLocks noGrp="1" noChangeArrowheads="1"/>
          </p:cNvSpPr>
          <p:nvPr>
            <p:ph type="subTitle" idx="1"/>
          </p:nvPr>
        </p:nvSpPr>
        <p:spPr>
          <a:xfrm>
            <a:off x="5796136" y="5445224"/>
            <a:ext cx="2448272" cy="720080"/>
          </a:xfrm>
        </p:spPr>
        <p:txBody>
          <a:bodyPr/>
          <a:lstStyle/>
          <a:p>
            <a:pPr eaLnBrk="1" hangingPunct="1">
              <a:lnSpc>
                <a:spcPct val="90000"/>
              </a:lnSpc>
            </a:pPr>
            <a:r>
              <a:rPr lang="en-US" dirty="0">
                <a:latin typeface="Agency FB" panose="020B0503020202020204" pitchFamily="34" charset="0"/>
              </a:rPr>
              <a:t>Muhammad </a:t>
            </a:r>
            <a:r>
              <a:rPr lang="en-US" dirty="0" err="1">
                <a:latin typeface="Agency FB" panose="020B0503020202020204" pitchFamily="34" charset="0"/>
              </a:rPr>
              <a:t>Taqui</a:t>
            </a:r>
            <a:endParaRPr lang="en-US" dirty="0">
              <a:latin typeface="Agency FB" panose="020B0503020202020204" pitchFamily="34" charset="0"/>
            </a:endParaRPr>
          </a:p>
          <a:p>
            <a:pPr eaLnBrk="1" hangingPunct="1">
              <a:lnSpc>
                <a:spcPct val="90000"/>
              </a:lnSpc>
            </a:pPr>
            <a:r>
              <a:rPr lang="en-US" dirty="0">
                <a:latin typeface="Agency FB" panose="020B0503020202020204" pitchFamily="34" charset="0"/>
              </a:rPr>
              <a:t>01-136221-021</a:t>
            </a:r>
            <a:endParaRPr lang="uk-UA"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643313" y="1124745"/>
            <a:ext cx="4169047" cy="864096"/>
          </a:xfrm>
        </p:spPr>
        <p:txBody>
          <a:bodyPr/>
          <a:lstStyle/>
          <a:p>
            <a:pPr eaLnBrk="1" hangingPunct="1"/>
            <a:r>
              <a:rPr lang="en-US" b="1" i="0" dirty="0">
                <a:effectLst/>
                <a:latin typeface="Agency FB" panose="020B0503020202020204" pitchFamily="34" charset="0"/>
              </a:rPr>
              <a:t>What are Fiber Optics?</a:t>
            </a:r>
            <a:endParaRPr lang="uk-UA" b="1" dirty="0"/>
          </a:p>
        </p:txBody>
      </p:sp>
      <p:sp>
        <p:nvSpPr>
          <p:cNvPr id="4099" name="Rectangle 3"/>
          <p:cNvSpPr>
            <a:spLocks noGrp="1" noChangeArrowheads="1"/>
          </p:cNvSpPr>
          <p:nvPr>
            <p:ph type="body" idx="1"/>
          </p:nvPr>
        </p:nvSpPr>
        <p:spPr>
          <a:xfrm>
            <a:off x="683567" y="2780928"/>
            <a:ext cx="7632849" cy="3672408"/>
          </a:xfrm>
        </p:spPr>
        <p:txBody>
          <a:bodyPr/>
          <a:lstStyle/>
          <a:p>
            <a:pPr marL="0" indent="0" eaLnBrk="1" hangingPunct="1">
              <a:lnSpc>
                <a:spcPct val="80000"/>
              </a:lnSpc>
              <a:buNone/>
            </a:pPr>
            <a:r>
              <a:rPr lang="en-US" sz="1400" b="0" i="0" dirty="0">
                <a:solidFill>
                  <a:srgbClr val="111111"/>
                </a:solidFill>
                <a:effectLst/>
                <a:latin typeface="Roboto" panose="02000000000000000000" pitchFamily="2" charset="0"/>
              </a:rPr>
              <a:t> </a:t>
            </a:r>
            <a:r>
              <a:rPr lang="en-US" b="0" i="0" dirty="0">
                <a:solidFill>
                  <a:srgbClr val="111111"/>
                </a:solidFill>
                <a:effectLst/>
                <a:latin typeface="Amasis MT Pro Light" panose="020B0604020202020204" pitchFamily="18" charset="0"/>
              </a:rPr>
              <a:t>Fiber optics (</a:t>
            </a:r>
            <a:r>
              <a:rPr lang="en-US" b="1" i="0" dirty="0">
                <a:solidFill>
                  <a:srgbClr val="111111"/>
                </a:solidFill>
                <a:effectLst/>
                <a:latin typeface="Amasis MT Pro Light" panose="020B0604020202020204" pitchFamily="18" charset="0"/>
              </a:rPr>
              <a:t>optical fibers</a:t>
            </a:r>
            <a:r>
              <a:rPr lang="en-US" b="0" i="0" dirty="0">
                <a:solidFill>
                  <a:srgbClr val="111111"/>
                </a:solidFill>
                <a:effectLst/>
                <a:latin typeface="Amasis MT Pro Light" panose="020B0604020202020204" pitchFamily="18" charset="0"/>
              </a:rPr>
              <a:t>) are long, thin strands of very pure glass about the diameter of human hair. They are arranged in bundles called optical cables and are used to transmit light signals over long distances.</a:t>
            </a:r>
            <a:endParaRPr lang="uk-UA"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66BF-6FBB-C395-4842-72F55055E16D}"/>
              </a:ext>
            </a:extLst>
          </p:cNvPr>
          <p:cNvSpPr>
            <a:spLocks noGrp="1"/>
          </p:cNvSpPr>
          <p:nvPr>
            <p:ph type="title"/>
          </p:nvPr>
        </p:nvSpPr>
        <p:spPr>
          <a:xfrm>
            <a:off x="1619250" y="1196975"/>
            <a:ext cx="6553200" cy="508000"/>
          </a:xfrm>
        </p:spPr>
        <p:txBody>
          <a:bodyPr wrap="square" anchor="ctr">
            <a:normAutofit fontScale="90000"/>
          </a:bodyPr>
          <a:lstStyle/>
          <a:p>
            <a:pPr>
              <a:lnSpc>
                <a:spcPct val="90000"/>
              </a:lnSpc>
            </a:pPr>
            <a:r>
              <a:rPr lang="en-US" sz="2800" b="1" i="0" dirty="0">
                <a:effectLst/>
              </a:rPr>
              <a:t>The Principle Behind Fiber Optics</a:t>
            </a:r>
            <a:br>
              <a:rPr lang="en-US" sz="1400" b="1" i="0" dirty="0">
                <a:effectLst/>
              </a:rPr>
            </a:br>
            <a:endParaRPr lang="en-AE" sz="1400" dirty="0"/>
          </a:p>
        </p:txBody>
      </p:sp>
      <p:pic>
        <p:nvPicPr>
          <p:cNvPr id="3078" name="Picture 6">
            <a:extLst>
              <a:ext uri="{FF2B5EF4-FFF2-40B4-BE49-F238E27FC236}">
                <a16:creationId xmlns:a16="http://schemas.microsoft.com/office/drawing/2014/main" id="{9255896D-2C23-15D1-E83C-871965A91C1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395858" y="5157192"/>
            <a:ext cx="8568630" cy="1511746"/>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083" name="Content Placeholder 3">
            <a:extLst>
              <a:ext uri="{FF2B5EF4-FFF2-40B4-BE49-F238E27FC236}">
                <a16:creationId xmlns:a16="http://schemas.microsoft.com/office/drawing/2014/main" id="{D0263E81-FE81-50C2-AC3F-72CC10866DEC}"/>
              </a:ext>
            </a:extLst>
          </p:cNvPr>
          <p:cNvSpPr>
            <a:spLocks noGrp="1"/>
          </p:cNvSpPr>
          <p:nvPr>
            <p:ph sz="half" idx="2"/>
          </p:nvPr>
        </p:nvSpPr>
        <p:spPr>
          <a:xfrm>
            <a:off x="539552" y="1773238"/>
            <a:ext cx="8280598" cy="3023914"/>
          </a:xfrm>
        </p:spPr>
        <p:txBody>
          <a:bodyPr/>
          <a:lstStyle/>
          <a:p>
            <a:pPr marL="0" indent="0">
              <a:buNone/>
            </a:pPr>
            <a:r>
              <a:rPr lang="en-US" sz="2000" b="0" i="0" dirty="0">
                <a:solidFill>
                  <a:srgbClr val="4A4A4A"/>
                </a:solidFill>
                <a:effectLst/>
                <a:latin typeface="Amasis MT Pro Light" panose="02040304050005020304" pitchFamily="18" charset="0"/>
              </a:rPr>
              <a:t>Optical fiber works on the principle of total internal reflection. When light travelling in an optically dense medium hits a boundary at a steep angle (larger than the critical angle for the boundary), the light is completely reflected. This is called total internal reflection.</a:t>
            </a:r>
            <a:br>
              <a:rPr lang="en-US" sz="2000" b="0" i="0" dirty="0">
                <a:solidFill>
                  <a:srgbClr val="000000"/>
                </a:solidFill>
                <a:effectLst/>
                <a:latin typeface="Amasis MT Pro Light" panose="02040304050005020304" pitchFamily="18" charset="0"/>
              </a:rPr>
            </a:br>
            <a:r>
              <a:rPr lang="en-US" sz="2000" b="0" i="0" dirty="0">
                <a:solidFill>
                  <a:srgbClr val="4A4A4A"/>
                </a:solidFill>
                <a:effectLst/>
                <a:latin typeface="Amasis MT Pro Light" panose="02040304050005020304" pitchFamily="18" charset="0"/>
              </a:rPr>
              <a:t>This effect is used in optical </a:t>
            </a:r>
            <a:r>
              <a:rPr lang="en-US" sz="2000" b="0" i="0" dirty="0" err="1">
                <a:solidFill>
                  <a:srgbClr val="4A4A4A"/>
                </a:solidFill>
                <a:effectLst/>
                <a:latin typeface="Amasis MT Pro Light" panose="02040304050005020304" pitchFamily="18" charset="0"/>
              </a:rPr>
              <a:t>fibres</a:t>
            </a:r>
            <a:r>
              <a:rPr lang="en-US" sz="2000" b="0" i="0" dirty="0">
                <a:solidFill>
                  <a:srgbClr val="4A4A4A"/>
                </a:solidFill>
                <a:effectLst/>
                <a:latin typeface="Amasis MT Pro Light" panose="02040304050005020304" pitchFamily="18" charset="0"/>
              </a:rPr>
              <a:t> to confine light in the core. Light travels through the </a:t>
            </a:r>
            <a:r>
              <a:rPr lang="en-US" sz="2000" b="0" i="0" dirty="0" err="1">
                <a:solidFill>
                  <a:srgbClr val="4A4A4A"/>
                </a:solidFill>
                <a:effectLst/>
                <a:latin typeface="Amasis MT Pro Light" panose="02040304050005020304" pitchFamily="18" charset="0"/>
              </a:rPr>
              <a:t>fibre</a:t>
            </a:r>
            <a:r>
              <a:rPr lang="en-US" sz="2000" b="0" i="0" dirty="0">
                <a:solidFill>
                  <a:srgbClr val="4A4A4A"/>
                </a:solidFill>
                <a:effectLst/>
                <a:latin typeface="Amasis MT Pro Light" panose="02040304050005020304" pitchFamily="18" charset="0"/>
              </a:rPr>
              <a:t> core, bouncing back and forth off the boundary between the core and cladding. Because the light must strike the boundary with an angle greater than the critical angle, the only light that enters the </a:t>
            </a:r>
            <a:r>
              <a:rPr lang="en-US" sz="2000" b="0" i="0" dirty="0" err="1">
                <a:solidFill>
                  <a:srgbClr val="4A4A4A"/>
                </a:solidFill>
                <a:effectLst/>
                <a:latin typeface="Amasis MT Pro Light" panose="02040304050005020304" pitchFamily="18" charset="0"/>
              </a:rPr>
              <a:t>fibre</a:t>
            </a:r>
            <a:r>
              <a:rPr lang="en-US" sz="2000" b="0" i="0" dirty="0">
                <a:solidFill>
                  <a:srgbClr val="4A4A4A"/>
                </a:solidFill>
                <a:effectLst/>
                <a:latin typeface="Amasis MT Pro Light" panose="02040304050005020304" pitchFamily="18" charset="0"/>
              </a:rPr>
              <a:t> within a certain range of angles can travel down the </a:t>
            </a:r>
            <a:r>
              <a:rPr lang="en-US" sz="2000" b="0" i="0" dirty="0" err="1">
                <a:solidFill>
                  <a:srgbClr val="4A4A4A"/>
                </a:solidFill>
                <a:effectLst/>
                <a:latin typeface="Amasis MT Pro Light" panose="02040304050005020304" pitchFamily="18" charset="0"/>
              </a:rPr>
              <a:t>fibre</a:t>
            </a:r>
            <a:r>
              <a:rPr lang="en-US" sz="2000" b="0" i="0" dirty="0">
                <a:solidFill>
                  <a:srgbClr val="4A4A4A"/>
                </a:solidFill>
                <a:effectLst/>
                <a:latin typeface="Amasis MT Pro Light" panose="02040304050005020304" pitchFamily="18" charset="0"/>
              </a:rPr>
              <a:t> without leaking out.</a:t>
            </a:r>
          </a:p>
          <a:p>
            <a:pPr marL="0" indent="0">
              <a:buNone/>
            </a:pPr>
            <a:endParaRPr lang="en-US" sz="2000" dirty="0">
              <a:latin typeface="Amasis MT Pro Light" panose="02040304050005020304" pitchFamily="18" charset="0"/>
            </a:endParaRPr>
          </a:p>
        </p:txBody>
      </p:sp>
    </p:spTree>
    <p:extLst>
      <p:ext uri="{BB962C8B-B14F-4D97-AF65-F5344CB8AC3E}">
        <p14:creationId xmlns:p14="http://schemas.microsoft.com/office/powerpoint/2010/main" val="10042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1907704" y="173219"/>
            <a:ext cx="6264225" cy="864270"/>
          </a:xfrm>
        </p:spPr>
        <p:txBody>
          <a:bodyPr/>
          <a:lstStyle/>
          <a:p>
            <a:pPr eaLnBrk="1" hangingPunct="1">
              <a:buFontTx/>
              <a:buNone/>
            </a:pPr>
            <a:r>
              <a:rPr lang="en-US" altLang="en-US" b="1" dirty="0">
                <a:latin typeface="Agency FB" panose="020B0503020202020204" pitchFamily="34" charset="0"/>
              </a:rPr>
              <a:t>Structure of an Optical fiber</a:t>
            </a:r>
          </a:p>
        </p:txBody>
      </p:sp>
      <p:grpSp>
        <p:nvGrpSpPr>
          <p:cNvPr id="2" name="Group 15">
            <a:extLst>
              <a:ext uri="{FF2B5EF4-FFF2-40B4-BE49-F238E27FC236}">
                <a16:creationId xmlns:a16="http://schemas.microsoft.com/office/drawing/2014/main" id="{F6F61147-73CF-5BDF-852F-DB11AD4D695B}"/>
              </a:ext>
            </a:extLst>
          </p:cNvPr>
          <p:cNvGrpSpPr>
            <a:grpSpLocks/>
          </p:cNvGrpSpPr>
          <p:nvPr/>
        </p:nvGrpSpPr>
        <p:grpSpPr bwMode="auto">
          <a:xfrm>
            <a:off x="2555776" y="1813719"/>
            <a:ext cx="5760640" cy="2695401"/>
            <a:chOff x="1776" y="923"/>
            <a:chExt cx="3209" cy="2035"/>
          </a:xfrm>
        </p:grpSpPr>
        <p:grpSp>
          <p:nvGrpSpPr>
            <p:cNvPr id="3" name="Group 8">
              <a:extLst>
                <a:ext uri="{FF2B5EF4-FFF2-40B4-BE49-F238E27FC236}">
                  <a16:creationId xmlns:a16="http://schemas.microsoft.com/office/drawing/2014/main" id="{389D04CF-F1C4-5F31-ABEC-EE78AEBFB84E}"/>
                </a:ext>
              </a:extLst>
            </p:cNvPr>
            <p:cNvGrpSpPr>
              <a:grpSpLocks/>
            </p:cNvGrpSpPr>
            <p:nvPr/>
          </p:nvGrpSpPr>
          <p:grpSpPr bwMode="auto">
            <a:xfrm>
              <a:off x="1776" y="1536"/>
              <a:ext cx="3209" cy="1422"/>
              <a:chOff x="1783" y="1532"/>
              <a:chExt cx="3209" cy="1422"/>
            </a:xfrm>
          </p:grpSpPr>
          <p:sp>
            <p:nvSpPr>
              <p:cNvPr id="10" name="AutoShape 7">
                <a:extLst>
                  <a:ext uri="{FF2B5EF4-FFF2-40B4-BE49-F238E27FC236}">
                    <a16:creationId xmlns:a16="http://schemas.microsoft.com/office/drawing/2014/main" id="{0FFC871F-477D-5D1E-CC84-CC15648EE856}"/>
                  </a:ext>
                </a:extLst>
              </p:cNvPr>
              <p:cNvSpPr>
                <a:spLocks noChangeArrowheads="1"/>
              </p:cNvSpPr>
              <p:nvPr/>
            </p:nvSpPr>
            <p:spPr bwMode="auto">
              <a:xfrm rot="1387744">
                <a:off x="1783" y="1532"/>
                <a:ext cx="1617" cy="1086"/>
              </a:xfrm>
              <a:prstGeom prst="flowChartMagneticDrum">
                <a:avLst/>
              </a:prstGeom>
              <a:solidFill>
                <a:srgbClr val="000000"/>
              </a:solidFill>
              <a:ln w="28575">
                <a:solidFill>
                  <a:schemeClr val="hlink"/>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US"/>
              </a:p>
            </p:txBody>
          </p:sp>
          <p:sp>
            <p:nvSpPr>
              <p:cNvPr id="11" name="AutoShape 6">
                <a:extLst>
                  <a:ext uri="{FF2B5EF4-FFF2-40B4-BE49-F238E27FC236}">
                    <a16:creationId xmlns:a16="http://schemas.microsoft.com/office/drawing/2014/main" id="{5FEE4DF1-EFD6-7B8E-B8A5-3637C2C0CF17}"/>
                  </a:ext>
                </a:extLst>
              </p:cNvPr>
              <p:cNvSpPr>
                <a:spLocks noChangeArrowheads="1"/>
              </p:cNvSpPr>
              <p:nvPr/>
            </p:nvSpPr>
            <p:spPr bwMode="auto">
              <a:xfrm rot="1387744">
                <a:off x="2928" y="2208"/>
                <a:ext cx="1341" cy="586"/>
              </a:xfrm>
              <a:prstGeom prst="flowChartMagneticDrum">
                <a:avLst/>
              </a:prstGeom>
              <a:solidFill>
                <a:srgbClr val="D60093"/>
              </a:solidFill>
              <a:ln w="28575">
                <a:solidFill>
                  <a:srgbClr val="000000"/>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US"/>
              </a:p>
            </p:txBody>
          </p:sp>
          <p:sp>
            <p:nvSpPr>
              <p:cNvPr id="12" name="AutoShape 5">
                <a:extLst>
                  <a:ext uri="{FF2B5EF4-FFF2-40B4-BE49-F238E27FC236}">
                    <a16:creationId xmlns:a16="http://schemas.microsoft.com/office/drawing/2014/main" id="{1E96DD93-655D-EBF0-F9B9-32BCF00ADAB5}"/>
                  </a:ext>
                </a:extLst>
              </p:cNvPr>
              <p:cNvSpPr>
                <a:spLocks noChangeArrowheads="1"/>
              </p:cNvSpPr>
              <p:nvPr/>
            </p:nvSpPr>
            <p:spPr bwMode="auto">
              <a:xfrm rot="1387744">
                <a:off x="3888" y="2784"/>
                <a:ext cx="1104" cy="170"/>
              </a:xfrm>
              <a:prstGeom prst="flowChartMagneticDrum">
                <a:avLst/>
              </a:prstGeom>
              <a:solidFill>
                <a:srgbClr val="FFFF00"/>
              </a:solidFill>
              <a:ln w="28575">
                <a:solidFill>
                  <a:srgbClr val="000000"/>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US"/>
              </a:p>
            </p:txBody>
          </p:sp>
        </p:grpSp>
        <p:sp>
          <p:nvSpPr>
            <p:cNvPr id="4" name="Text Box 9">
              <a:extLst>
                <a:ext uri="{FF2B5EF4-FFF2-40B4-BE49-F238E27FC236}">
                  <a16:creationId xmlns:a16="http://schemas.microsoft.com/office/drawing/2014/main" id="{C1DBFA22-E283-CDA2-479A-2BA8B279F24A}"/>
                </a:ext>
              </a:extLst>
            </p:cNvPr>
            <p:cNvSpPr txBox="1">
              <a:spLocks noChangeArrowheads="1"/>
            </p:cNvSpPr>
            <p:nvPr/>
          </p:nvSpPr>
          <p:spPr bwMode="auto">
            <a:xfrm>
              <a:off x="1968" y="923"/>
              <a:ext cx="2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solidFill>
                    <a:srgbClr val="000000"/>
                  </a:solidFill>
                  <a:latin typeface="Baskerville Old Face" panose="02020602080505020303" pitchFamily="18" charset="0"/>
                </a:rPr>
                <a:t>Poly urethane protective jacket</a:t>
              </a:r>
            </a:p>
          </p:txBody>
        </p:sp>
        <p:sp>
          <p:nvSpPr>
            <p:cNvPr id="5" name="Text Box 10">
              <a:extLst>
                <a:ext uri="{FF2B5EF4-FFF2-40B4-BE49-F238E27FC236}">
                  <a16:creationId xmlns:a16="http://schemas.microsoft.com/office/drawing/2014/main" id="{875BCD55-57A3-7963-F4AD-8D21CBE03632}"/>
                </a:ext>
              </a:extLst>
            </p:cNvPr>
            <p:cNvSpPr txBox="1">
              <a:spLocks noChangeArrowheads="1"/>
            </p:cNvSpPr>
            <p:nvPr/>
          </p:nvSpPr>
          <p:spPr bwMode="auto">
            <a:xfrm>
              <a:off x="3600" y="1760"/>
              <a:ext cx="8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solidFill>
                    <a:srgbClr val="000000"/>
                  </a:solidFill>
                </a:rPr>
                <a:t>Cladding</a:t>
              </a:r>
            </a:p>
          </p:txBody>
        </p:sp>
        <p:sp>
          <p:nvSpPr>
            <p:cNvPr id="6" name="Text Box 11">
              <a:extLst>
                <a:ext uri="{FF2B5EF4-FFF2-40B4-BE49-F238E27FC236}">
                  <a16:creationId xmlns:a16="http://schemas.microsoft.com/office/drawing/2014/main" id="{CB2451ED-E25C-1B27-82FC-5443D6688250}"/>
                </a:ext>
              </a:extLst>
            </p:cNvPr>
            <p:cNvSpPr txBox="1">
              <a:spLocks noChangeArrowheads="1"/>
            </p:cNvSpPr>
            <p:nvPr/>
          </p:nvSpPr>
          <p:spPr bwMode="auto">
            <a:xfrm>
              <a:off x="4416" y="2336"/>
              <a:ext cx="4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solidFill>
                    <a:srgbClr val="000000"/>
                  </a:solidFill>
                </a:rPr>
                <a:t>Core</a:t>
              </a:r>
            </a:p>
          </p:txBody>
        </p:sp>
        <p:sp>
          <p:nvSpPr>
            <p:cNvPr id="7" name="Line 12">
              <a:extLst>
                <a:ext uri="{FF2B5EF4-FFF2-40B4-BE49-F238E27FC236}">
                  <a16:creationId xmlns:a16="http://schemas.microsoft.com/office/drawing/2014/main" id="{75456398-17F5-442E-F0CE-69570824E818}"/>
                </a:ext>
              </a:extLst>
            </p:cNvPr>
            <p:cNvSpPr>
              <a:spLocks noChangeShapeType="1"/>
            </p:cNvSpPr>
            <p:nvPr/>
          </p:nvSpPr>
          <p:spPr bwMode="auto">
            <a:xfrm flipV="1">
              <a:off x="2544" y="1200"/>
              <a:ext cx="144" cy="384"/>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AE"/>
            </a:p>
          </p:txBody>
        </p:sp>
        <p:sp>
          <p:nvSpPr>
            <p:cNvPr id="8" name="Line 13">
              <a:extLst>
                <a:ext uri="{FF2B5EF4-FFF2-40B4-BE49-F238E27FC236}">
                  <a16:creationId xmlns:a16="http://schemas.microsoft.com/office/drawing/2014/main" id="{71E338C4-9F9F-1F59-87A5-82C59981C60A}"/>
                </a:ext>
              </a:extLst>
            </p:cNvPr>
            <p:cNvSpPr>
              <a:spLocks noChangeShapeType="1"/>
            </p:cNvSpPr>
            <p:nvPr/>
          </p:nvSpPr>
          <p:spPr bwMode="auto">
            <a:xfrm flipV="1">
              <a:off x="3648" y="2016"/>
              <a:ext cx="96" cy="192"/>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AE"/>
            </a:p>
          </p:txBody>
        </p:sp>
        <p:sp>
          <p:nvSpPr>
            <p:cNvPr id="9" name="Line 14">
              <a:extLst>
                <a:ext uri="{FF2B5EF4-FFF2-40B4-BE49-F238E27FC236}">
                  <a16:creationId xmlns:a16="http://schemas.microsoft.com/office/drawing/2014/main" id="{E664543A-E07C-3798-A533-1F26AF60E262}"/>
                </a:ext>
              </a:extLst>
            </p:cNvPr>
            <p:cNvSpPr>
              <a:spLocks noChangeShapeType="1"/>
            </p:cNvSpPr>
            <p:nvPr/>
          </p:nvSpPr>
          <p:spPr bwMode="auto">
            <a:xfrm flipV="1">
              <a:off x="4416" y="2544"/>
              <a:ext cx="144" cy="24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AE"/>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E02C8-5619-0B06-097A-47FC2DEF3CA5}"/>
              </a:ext>
            </a:extLst>
          </p:cNvPr>
          <p:cNvSpPr>
            <a:spLocks noGrp="1"/>
          </p:cNvSpPr>
          <p:nvPr>
            <p:ph idx="1"/>
          </p:nvPr>
        </p:nvSpPr>
        <p:spPr>
          <a:xfrm>
            <a:off x="611560" y="2420888"/>
            <a:ext cx="8208590" cy="3672408"/>
          </a:xfrm>
        </p:spPr>
        <p:txBody>
          <a:bodyPr/>
          <a:lstStyle/>
          <a:p>
            <a:r>
              <a:rPr lang="en-US" altLang="en-US" sz="2400" b="1" dirty="0">
                <a:solidFill>
                  <a:schemeClr val="bg2"/>
                </a:solidFill>
                <a:latin typeface="Amasis MT Pro Light" panose="02040304050005020304" pitchFamily="18" charset="0"/>
              </a:rPr>
              <a:t>Core: </a:t>
            </a:r>
            <a:r>
              <a:rPr lang="en-US" altLang="en-US" sz="2400" dirty="0">
                <a:latin typeface="Amasis MT Pro Light" panose="02040304050005020304" pitchFamily="18" charset="0"/>
              </a:rPr>
              <a:t>It is an inner cylindrical material made up of glass or plastic.</a:t>
            </a:r>
          </a:p>
          <a:p>
            <a:endParaRPr lang="en-US" altLang="en-US" sz="2400" dirty="0">
              <a:latin typeface="Amasis MT Pro Light" panose="02040304050005020304" pitchFamily="18" charset="0"/>
            </a:endParaRPr>
          </a:p>
          <a:p>
            <a:r>
              <a:rPr lang="en-US" altLang="en-US" sz="2400" b="1" dirty="0">
                <a:solidFill>
                  <a:schemeClr val="bg2"/>
                </a:solidFill>
                <a:latin typeface="Amasis MT Pro Light" panose="02040304050005020304" pitchFamily="18" charset="0"/>
              </a:rPr>
              <a:t>Cladding: </a:t>
            </a:r>
            <a:r>
              <a:rPr lang="en-US" altLang="en-US" sz="2400" dirty="0">
                <a:latin typeface="Amasis MT Pro Light" panose="02040304050005020304" pitchFamily="18" charset="0"/>
              </a:rPr>
              <a:t>It is a cylindrical shell of glass or plastic material in which the Core is inserted.</a:t>
            </a:r>
          </a:p>
          <a:p>
            <a:endParaRPr lang="en-US" altLang="en-US" sz="2400" dirty="0">
              <a:latin typeface="Amasis MT Pro Light" panose="02040304050005020304" pitchFamily="18" charset="0"/>
            </a:endParaRPr>
          </a:p>
          <a:p>
            <a:r>
              <a:rPr lang="en-US" altLang="en-US" sz="2400" b="1" dirty="0">
                <a:solidFill>
                  <a:schemeClr val="bg2"/>
                </a:solidFill>
                <a:latin typeface="Amasis MT Pro Light" panose="02040304050005020304" pitchFamily="18" charset="0"/>
              </a:rPr>
              <a:t>Protective Jacket: </a:t>
            </a:r>
            <a:r>
              <a:rPr lang="en-US" altLang="en-US" sz="2400" dirty="0">
                <a:latin typeface="Amasis MT Pro Light" panose="02040304050005020304" pitchFamily="18" charset="0"/>
              </a:rPr>
              <a:t>The Cladding is enclosed in a polyurethane jacket and it protects the fiber from surroundings.</a:t>
            </a:r>
          </a:p>
          <a:p>
            <a:endParaRPr lang="en-AE" dirty="0">
              <a:latin typeface="Agency FB" panose="020B0503020202020204" pitchFamily="34" charset="0"/>
            </a:endParaRPr>
          </a:p>
        </p:txBody>
      </p:sp>
      <p:sp>
        <p:nvSpPr>
          <p:cNvPr id="5" name="Title 4">
            <a:extLst>
              <a:ext uri="{FF2B5EF4-FFF2-40B4-BE49-F238E27FC236}">
                <a16:creationId xmlns:a16="http://schemas.microsoft.com/office/drawing/2014/main" id="{C2C5CAC2-A19D-AC0F-312D-DDD2D3DF171E}"/>
              </a:ext>
            </a:extLst>
          </p:cNvPr>
          <p:cNvSpPr>
            <a:spLocks noGrp="1"/>
          </p:cNvSpPr>
          <p:nvPr>
            <p:ph type="title"/>
          </p:nvPr>
        </p:nvSpPr>
        <p:spPr>
          <a:xfrm>
            <a:off x="1619250" y="1556792"/>
            <a:ext cx="6553200" cy="288031"/>
          </a:xfrm>
        </p:spPr>
        <p:txBody>
          <a:bodyPr/>
          <a:lstStyle/>
          <a:p>
            <a:r>
              <a:rPr lang="en-US" altLang="en-US" sz="3600" b="1" dirty="0">
                <a:latin typeface="Agency FB" panose="020B0503020202020204" pitchFamily="34" charset="0"/>
              </a:rPr>
              <a:t>Optical fiber consists of three sections</a:t>
            </a:r>
            <a:br>
              <a:rPr lang="en-US" altLang="en-US" sz="3600" b="1" dirty="0">
                <a:solidFill>
                  <a:srgbClr val="FFFF66"/>
                </a:solidFill>
                <a:latin typeface="Baskerville Old Face" panose="02020602080505020303" pitchFamily="18" charset="0"/>
              </a:rPr>
            </a:br>
            <a:endParaRPr lang="en-AE" dirty="0"/>
          </a:p>
        </p:txBody>
      </p:sp>
    </p:spTree>
    <p:extLst>
      <p:ext uri="{BB962C8B-B14F-4D97-AF65-F5344CB8AC3E}">
        <p14:creationId xmlns:p14="http://schemas.microsoft.com/office/powerpoint/2010/main" val="316827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2051720" y="1"/>
            <a:ext cx="6120730" cy="980728"/>
          </a:xfrm>
        </p:spPr>
        <p:txBody>
          <a:bodyPr/>
          <a:lstStyle/>
          <a:p>
            <a:r>
              <a:rPr lang="en-US" altLang="en-US" sz="3200" b="1" dirty="0">
                <a:latin typeface="Agency FB" panose="020B0503020202020204" pitchFamily="34" charset="0"/>
              </a:rPr>
              <a:t>TYPES OF OPTICAL FIBRES</a:t>
            </a:r>
          </a:p>
        </p:txBody>
      </p:sp>
      <p:sp>
        <p:nvSpPr>
          <p:cNvPr id="14" name="Content Placeholder 13">
            <a:extLst>
              <a:ext uri="{FF2B5EF4-FFF2-40B4-BE49-F238E27FC236}">
                <a16:creationId xmlns:a16="http://schemas.microsoft.com/office/drawing/2014/main" id="{1F63201A-CC2A-45D4-2E70-7CDC1ACC6F83}"/>
              </a:ext>
            </a:extLst>
          </p:cNvPr>
          <p:cNvSpPr>
            <a:spLocks noGrp="1"/>
          </p:cNvSpPr>
          <p:nvPr>
            <p:ph idx="1"/>
          </p:nvPr>
        </p:nvSpPr>
        <p:spPr>
          <a:xfrm>
            <a:off x="1907704" y="1412776"/>
            <a:ext cx="6912446" cy="5040560"/>
          </a:xfrm>
        </p:spPr>
        <p:txBody>
          <a:bodyPr/>
          <a:lstStyle/>
          <a:p>
            <a:pPr marL="0" indent="0">
              <a:buNone/>
            </a:pPr>
            <a:r>
              <a:rPr lang="en-US" altLang="en-US" sz="2800" dirty="0">
                <a:latin typeface="Amasis MT Pro Light" panose="02040304050005020304" pitchFamily="18" charset="0"/>
              </a:rPr>
              <a:t>Based on the variation of RI of the core, the optical fibers are mainly classified into the following types. i.e.,</a:t>
            </a:r>
          </a:p>
          <a:p>
            <a:r>
              <a:rPr lang="en-US" altLang="en-US" sz="2800" b="1" dirty="0">
                <a:solidFill>
                  <a:schemeClr val="bg2"/>
                </a:solidFill>
                <a:latin typeface="Amasis MT Pro Light" panose="02040304050005020304" pitchFamily="18" charset="0"/>
              </a:rPr>
              <a:t>Step Index Fiber</a:t>
            </a:r>
            <a:endParaRPr lang="en-US" altLang="en-US" b="1" dirty="0">
              <a:solidFill>
                <a:schemeClr val="bg2"/>
              </a:solidFill>
              <a:latin typeface="Amasis MT Pro Light" panose="02040304050005020304" pitchFamily="18" charset="0"/>
            </a:endParaRPr>
          </a:p>
          <a:p>
            <a:r>
              <a:rPr lang="en-US" altLang="en-US" sz="2800" b="1" dirty="0" err="1">
                <a:solidFill>
                  <a:schemeClr val="bg2"/>
                </a:solidFill>
                <a:latin typeface="Amasis MT Pro Light" panose="02040304050005020304" pitchFamily="18" charset="0"/>
              </a:rPr>
              <a:t>Gradex</a:t>
            </a:r>
            <a:r>
              <a:rPr lang="en-US" altLang="en-US" sz="2800" b="1" dirty="0">
                <a:solidFill>
                  <a:schemeClr val="bg2"/>
                </a:solidFill>
                <a:latin typeface="Amasis MT Pro Light" panose="02040304050005020304" pitchFamily="18" charset="0"/>
              </a:rPr>
              <a:t> Index fiber</a:t>
            </a:r>
          </a:p>
          <a:p>
            <a:endParaRPr lang="en-US" altLang="en-US" b="1" dirty="0">
              <a:solidFill>
                <a:schemeClr val="bg2"/>
              </a:solidFill>
              <a:latin typeface="Amasis MT Pro Light" panose="02040304050005020304" pitchFamily="18" charset="0"/>
            </a:endParaRPr>
          </a:p>
          <a:p>
            <a:pPr marL="0" indent="0">
              <a:buNone/>
            </a:pPr>
            <a:r>
              <a:rPr lang="en-US" altLang="en-US" sz="2800" b="1" dirty="0">
                <a:solidFill>
                  <a:schemeClr val="bg2"/>
                </a:solidFill>
                <a:latin typeface="Amasis MT Pro Light" panose="02040304050005020304" pitchFamily="18" charset="0"/>
              </a:rPr>
              <a:t>NOTE: </a:t>
            </a:r>
            <a:r>
              <a:rPr lang="en-US" altLang="en-US" sz="2800" dirty="0">
                <a:latin typeface="Amasis MT Pro Light" panose="02040304050005020304" pitchFamily="18" charset="0"/>
              </a:rPr>
              <a:t>Based on the Mode of propagation, the fibers are further divided into </a:t>
            </a:r>
            <a:r>
              <a:rPr lang="en-US" altLang="en-US" sz="2800" b="1" dirty="0">
                <a:solidFill>
                  <a:schemeClr val="bg2"/>
                </a:solidFill>
                <a:latin typeface="Amasis MT Pro Light" panose="02040304050005020304" pitchFamily="18" charset="0"/>
              </a:rPr>
              <a:t>Single Mode</a:t>
            </a:r>
            <a:r>
              <a:rPr lang="en-US" altLang="en-US" sz="2800" dirty="0">
                <a:solidFill>
                  <a:schemeClr val="bg2"/>
                </a:solidFill>
                <a:latin typeface="Amasis MT Pro Light" panose="02040304050005020304" pitchFamily="18" charset="0"/>
              </a:rPr>
              <a:t> </a:t>
            </a:r>
            <a:r>
              <a:rPr lang="en-US" altLang="en-US" sz="2800" dirty="0">
                <a:latin typeface="Amasis MT Pro Light" panose="02040304050005020304" pitchFamily="18" charset="0"/>
              </a:rPr>
              <a:t>and </a:t>
            </a:r>
            <a:r>
              <a:rPr lang="en-US" altLang="en-US" sz="2800" b="1" dirty="0">
                <a:solidFill>
                  <a:schemeClr val="bg2"/>
                </a:solidFill>
                <a:latin typeface="Amasis MT Pro Light" panose="02040304050005020304" pitchFamily="18" charset="0"/>
              </a:rPr>
              <a:t>Multi Mode</a:t>
            </a:r>
            <a:r>
              <a:rPr lang="en-US" altLang="en-US" sz="2800" b="1" dirty="0">
                <a:latin typeface="Amasis MT Pro Light" panose="02040304050005020304" pitchFamily="18" charset="0"/>
              </a:rPr>
              <a:t>.</a:t>
            </a:r>
          </a:p>
          <a:p>
            <a:pPr marL="0" indent="0">
              <a:buNone/>
            </a:pPr>
            <a:endParaRPr lang="en-US" altLang="en-US" sz="2800" b="1" dirty="0">
              <a:solidFill>
                <a:schemeClr val="bg2"/>
              </a:solidFill>
              <a:latin typeface="Amasis MT Pro Light" panose="02040304050005020304" pitchFamily="18" charset="0"/>
            </a:endParaRPr>
          </a:p>
          <a:p>
            <a:endParaRPr lang="en-US" altLang="en-US" sz="2800" dirty="0">
              <a:latin typeface="Baskerville Old Face" panose="02020602080505020303" pitchFamily="18" charset="0"/>
            </a:endParaRPr>
          </a:p>
          <a:p>
            <a:endParaRPr lang="en-AE" dirty="0"/>
          </a:p>
        </p:txBody>
      </p:sp>
    </p:spTree>
    <p:extLst>
      <p:ext uri="{BB962C8B-B14F-4D97-AF65-F5344CB8AC3E}">
        <p14:creationId xmlns:p14="http://schemas.microsoft.com/office/powerpoint/2010/main" val="2324930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A4EB-616F-0B5A-88B5-9713E87A13C0}"/>
              </a:ext>
            </a:extLst>
          </p:cNvPr>
          <p:cNvSpPr>
            <a:spLocks noGrp="1"/>
          </p:cNvSpPr>
          <p:nvPr>
            <p:ph type="title"/>
          </p:nvPr>
        </p:nvSpPr>
        <p:spPr>
          <a:xfrm>
            <a:off x="1763688" y="1428832"/>
            <a:ext cx="6553200" cy="220191"/>
          </a:xfrm>
        </p:spPr>
        <p:txBody>
          <a:bodyPr/>
          <a:lstStyle/>
          <a:p>
            <a:r>
              <a:rPr lang="en-US" altLang="en-US" sz="3200" b="1" dirty="0">
                <a:latin typeface="Agency FB" panose="020B0503020202020204" pitchFamily="34" charset="0"/>
              </a:rPr>
              <a:t>Single Mode Step Index fiber</a:t>
            </a:r>
            <a:br>
              <a:rPr lang="en-US" altLang="en-US" sz="3200" b="1" dirty="0">
                <a:latin typeface="Agency FB" panose="020B0503020202020204" pitchFamily="34" charset="0"/>
              </a:rPr>
            </a:br>
            <a:endParaRPr lang="en-AE" sz="3200"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4EB69C4C-F6AD-7F9A-251A-4B55CBBE32D8}"/>
              </a:ext>
            </a:extLst>
          </p:cNvPr>
          <p:cNvSpPr>
            <a:spLocks noGrp="1"/>
          </p:cNvSpPr>
          <p:nvPr>
            <p:ph idx="1"/>
          </p:nvPr>
        </p:nvSpPr>
        <p:spPr>
          <a:xfrm>
            <a:off x="107504" y="1628800"/>
            <a:ext cx="8712646" cy="4896544"/>
          </a:xfrm>
        </p:spPr>
        <p:txBody>
          <a:bodyPr/>
          <a:lstStyle/>
          <a:p>
            <a:pPr marL="0" indent="0">
              <a:buNone/>
            </a:pPr>
            <a:endParaRPr lang="en-US" altLang="en-US" sz="2400" dirty="0">
              <a:latin typeface="Amasis MT Pro Light" panose="02040304050005020304" pitchFamily="18" charset="0"/>
            </a:endParaRPr>
          </a:p>
          <a:p>
            <a:pPr marL="0" indent="0">
              <a:buNone/>
            </a:pPr>
            <a:r>
              <a:rPr lang="en-US" altLang="en-US" sz="2400" dirty="0">
                <a:latin typeface="Amasis MT Pro Light" panose="02040304050005020304" pitchFamily="18" charset="0"/>
              </a:rPr>
              <a:t>The RI is constant for the core in this fiber. As we go radically from center of the core, the RI undergoes a step change at core-cladding interface .</a:t>
            </a:r>
          </a:p>
          <a:p>
            <a:pPr marL="0" indent="0">
              <a:buNone/>
            </a:pPr>
            <a:r>
              <a:rPr lang="en-US" altLang="en-US" sz="2400" dirty="0">
                <a:latin typeface="Amasis MT Pro Light" panose="02040304050005020304" pitchFamily="18" charset="0"/>
              </a:rPr>
              <a:t>The core diameter of this fiber is about </a:t>
            </a:r>
            <a:r>
              <a:rPr lang="en-US" altLang="en-US" sz="2400" dirty="0">
                <a:solidFill>
                  <a:schemeClr val="bg2"/>
                </a:solidFill>
                <a:latin typeface="Amasis MT Pro Light" panose="02040304050005020304" pitchFamily="18" charset="0"/>
              </a:rPr>
              <a:t>8 to 10µm </a:t>
            </a:r>
            <a:r>
              <a:rPr lang="en-US" altLang="en-US" sz="2400" dirty="0">
                <a:latin typeface="Amasis MT Pro Light" panose="02040304050005020304" pitchFamily="18" charset="0"/>
              </a:rPr>
              <a:t>and the outer diameter of cladding is </a:t>
            </a:r>
            <a:r>
              <a:rPr lang="en-US" altLang="en-US" sz="2400" dirty="0">
                <a:solidFill>
                  <a:schemeClr val="bg2"/>
                </a:solidFill>
                <a:latin typeface="Amasis MT Pro Light" panose="02040304050005020304" pitchFamily="18" charset="0"/>
              </a:rPr>
              <a:t>60 to 70µm</a:t>
            </a:r>
            <a:r>
              <a:rPr lang="en-US" altLang="en-US" sz="2400" dirty="0">
                <a:latin typeface="Amasis MT Pro Light" panose="02040304050005020304" pitchFamily="18" charset="0"/>
              </a:rPr>
              <a:t>.</a:t>
            </a:r>
          </a:p>
          <a:p>
            <a:pPr marL="0" indent="0">
              <a:buNone/>
            </a:pPr>
            <a:r>
              <a:rPr lang="en-US" altLang="en-US" sz="2400" dirty="0">
                <a:latin typeface="Amasis MT Pro Light" panose="02040304050005020304" pitchFamily="18" charset="0"/>
              </a:rPr>
              <a:t>There is only one path for light ray propagation. Hence it is called single mode step index fiber.</a:t>
            </a:r>
          </a:p>
          <a:p>
            <a:pPr marL="0" indent="0">
              <a:buNone/>
            </a:pPr>
            <a:r>
              <a:rPr lang="en-US" altLang="en-US" sz="2400" dirty="0">
                <a:latin typeface="Amasis MT Pro Light" panose="02040304050005020304" pitchFamily="18" charset="0"/>
              </a:rPr>
              <a:t>It is a reflective fiber since light is transmitted from one end to the other end of a fiber by TIR. </a:t>
            </a:r>
          </a:p>
          <a:p>
            <a:pPr marL="0" indent="0">
              <a:buNone/>
            </a:pPr>
            <a:r>
              <a:rPr lang="en-US" altLang="en-US" sz="2400" dirty="0">
                <a:latin typeface="Amasis MT Pro Light" panose="02040304050005020304" pitchFamily="18" charset="0"/>
              </a:rPr>
              <a:t>These are extensively used because distortion and transmission losses are very less.</a:t>
            </a:r>
          </a:p>
          <a:p>
            <a:pPr marL="0" indent="0">
              <a:buNone/>
            </a:pPr>
            <a:endParaRPr lang="en-AE" sz="2400" dirty="0">
              <a:latin typeface="Amasis MT Pro Light" panose="02040304050005020304" pitchFamily="18" charset="0"/>
            </a:endParaRPr>
          </a:p>
        </p:txBody>
      </p:sp>
    </p:spTree>
    <p:extLst>
      <p:ext uri="{BB962C8B-B14F-4D97-AF65-F5344CB8AC3E}">
        <p14:creationId xmlns:p14="http://schemas.microsoft.com/office/powerpoint/2010/main" val="779937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8EE8-D066-5AB9-17E3-BED8BD8527A1}"/>
              </a:ext>
            </a:extLst>
          </p:cNvPr>
          <p:cNvSpPr>
            <a:spLocks noGrp="1"/>
          </p:cNvSpPr>
          <p:nvPr>
            <p:ph type="title"/>
          </p:nvPr>
        </p:nvSpPr>
        <p:spPr>
          <a:xfrm>
            <a:off x="1619250" y="1340767"/>
            <a:ext cx="6553200" cy="576065"/>
          </a:xfrm>
        </p:spPr>
        <p:txBody>
          <a:bodyPr/>
          <a:lstStyle/>
          <a:p>
            <a:r>
              <a:rPr lang="en-US" altLang="en-US" sz="3200" b="1" dirty="0">
                <a:latin typeface="Agency FB" panose="020B0503020202020204" pitchFamily="34" charset="0"/>
              </a:rPr>
              <a:t>Multimode Step Index Fiber</a:t>
            </a:r>
            <a:br>
              <a:rPr lang="en-US" altLang="en-US" sz="3200" dirty="0">
                <a:solidFill>
                  <a:srgbClr val="0000FF"/>
                </a:solidFill>
                <a:latin typeface="Agency FB" panose="020B0503020202020204" pitchFamily="34" charset="0"/>
              </a:rPr>
            </a:br>
            <a:endParaRPr lang="en-AE" sz="3200" dirty="0">
              <a:latin typeface="Agency FB" panose="020B0503020202020204" pitchFamily="34" charset="0"/>
            </a:endParaRPr>
          </a:p>
        </p:txBody>
      </p:sp>
      <p:sp>
        <p:nvSpPr>
          <p:cNvPr id="3" name="Content Placeholder 2">
            <a:extLst>
              <a:ext uri="{FF2B5EF4-FFF2-40B4-BE49-F238E27FC236}">
                <a16:creationId xmlns:a16="http://schemas.microsoft.com/office/drawing/2014/main" id="{4F03AF84-DCAC-4C2D-E81F-2BDB29F53422}"/>
              </a:ext>
            </a:extLst>
          </p:cNvPr>
          <p:cNvSpPr>
            <a:spLocks noGrp="1"/>
          </p:cNvSpPr>
          <p:nvPr>
            <p:ph idx="1"/>
          </p:nvPr>
        </p:nvSpPr>
        <p:spPr>
          <a:xfrm>
            <a:off x="107504" y="2132856"/>
            <a:ext cx="8928992" cy="4536504"/>
          </a:xfrm>
        </p:spPr>
        <p:txBody>
          <a:bodyPr/>
          <a:lstStyle/>
          <a:p>
            <a:pPr marL="0" indent="0">
              <a:buNone/>
            </a:pPr>
            <a:r>
              <a:rPr lang="en-US" altLang="en-US" sz="2800" dirty="0">
                <a:solidFill>
                  <a:srgbClr val="000000"/>
                </a:solidFill>
                <a:latin typeface="Amasis MT Pro Light" panose="02040304050005020304" pitchFamily="18" charset="0"/>
              </a:rPr>
              <a:t>The construction of this fiber is similar to Single mode step index fiber but dimensions of Core and Cladding are much larger to have </a:t>
            </a:r>
            <a:r>
              <a:rPr lang="en-US" altLang="en-US" sz="2800" dirty="0">
                <a:solidFill>
                  <a:srgbClr val="FF0000"/>
                </a:solidFill>
                <a:latin typeface="Amasis MT Pro Light" panose="02040304050005020304" pitchFamily="18" charset="0"/>
              </a:rPr>
              <a:t>more number of paths</a:t>
            </a:r>
            <a:r>
              <a:rPr lang="en-US" altLang="en-US" sz="2800" dirty="0">
                <a:solidFill>
                  <a:srgbClr val="000000"/>
                </a:solidFill>
                <a:latin typeface="Amasis MT Pro Light" panose="02040304050005020304" pitchFamily="18" charset="0"/>
              </a:rPr>
              <a:t> for light propagation.</a:t>
            </a:r>
          </a:p>
          <a:p>
            <a:endParaRPr lang="en-US" altLang="en-US" sz="2800" dirty="0">
              <a:solidFill>
                <a:srgbClr val="000000"/>
              </a:solidFill>
              <a:latin typeface="Amasis MT Pro Light" panose="02040304050005020304" pitchFamily="18" charset="0"/>
            </a:endParaRPr>
          </a:p>
          <a:p>
            <a:pPr marL="0" indent="0">
              <a:buNone/>
            </a:pPr>
            <a:r>
              <a:rPr lang="en-US" altLang="en-US" sz="2800" dirty="0">
                <a:solidFill>
                  <a:srgbClr val="000000"/>
                </a:solidFill>
                <a:latin typeface="Amasis MT Pro Light" panose="02040304050005020304" pitchFamily="18" charset="0"/>
              </a:rPr>
              <a:t>The Core diameter varies from 50 to 200µm and the Cladding diameter varies from 100 to 250µm.</a:t>
            </a:r>
          </a:p>
          <a:p>
            <a:endParaRPr lang="en-US" altLang="en-US" sz="2800" dirty="0">
              <a:solidFill>
                <a:srgbClr val="000000"/>
              </a:solidFill>
              <a:latin typeface="Amasis MT Pro Light" panose="02040304050005020304" pitchFamily="18" charset="0"/>
            </a:endParaRPr>
          </a:p>
          <a:p>
            <a:pPr marL="0" indent="0">
              <a:buNone/>
            </a:pPr>
            <a:r>
              <a:rPr lang="en-US" altLang="en-US" sz="2800" dirty="0">
                <a:solidFill>
                  <a:srgbClr val="000000"/>
                </a:solidFill>
                <a:latin typeface="Amasis MT Pro Light" panose="02040304050005020304" pitchFamily="18" charset="0"/>
              </a:rPr>
              <a:t>It is also a reflective fiber since light is propagated in the form of multiple TIRS.</a:t>
            </a:r>
          </a:p>
        </p:txBody>
      </p:sp>
    </p:spTree>
    <p:extLst>
      <p:ext uri="{BB962C8B-B14F-4D97-AF65-F5344CB8AC3E}">
        <p14:creationId xmlns:p14="http://schemas.microsoft.com/office/powerpoint/2010/main" val="215285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52B7-AE9E-5385-305E-2DBE2B078BE5}"/>
              </a:ext>
            </a:extLst>
          </p:cNvPr>
          <p:cNvSpPr>
            <a:spLocks noGrp="1"/>
          </p:cNvSpPr>
          <p:nvPr>
            <p:ph type="title"/>
          </p:nvPr>
        </p:nvSpPr>
        <p:spPr>
          <a:xfrm>
            <a:off x="1619250" y="1268759"/>
            <a:ext cx="6553200" cy="436215"/>
          </a:xfrm>
        </p:spPr>
        <p:txBody>
          <a:bodyPr/>
          <a:lstStyle/>
          <a:p>
            <a:r>
              <a:rPr lang="en-US" altLang="en-US" sz="3200" b="1" dirty="0">
                <a:latin typeface="Agency FB" panose="020B0503020202020204" pitchFamily="34" charset="0"/>
              </a:rPr>
              <a:t>GRADED INDEX FIBRE</a:t>
            </a:r>
            <a:br>
              <a:rPr lang="en-US" altLang="en-US" sz="3200" b="1" dirty="0">
                <a:solidFill>
                  <a:srgbClr val="0000FF"/>
                </a:solidFill>
                <a:latin typeface="Amasis MT Pro Light" panose="02040304050005020304" pitchFamily="18" charset="0"/>
              </a:rPr>
            </a:br>
            <a:endParaRPr lang="en-AE" sz="3200" b="1" dirty="0">
              <a:latin typeface="Amasis MT Pro Light" panose="02040304050005020304" pitchFamily="18" charset="0"/>
            </a:endParaRPr>
          </a:p>
        </p:txBody>
      </p:sp>
      <p:sp>
        <p:nvSpPr>
          <p:cNvPr id="3" name="Content Placeholder 2">
            <a:extLst>
              <a:ext uri="{FF2B5EF4-FFF2-40B4-BE49-F238E27FC236}">
                <a16:creationId xmlns:a16="http://schemas.microsoft.com/office/drawing/2014/main" id="{6AAEC6CF-B184-BF40-9226-3B3C3C696AC7}"/>
              </a:ext>
            </a:extLst>
          </p:cNvPr>
          <p:cNvSpPr>
            <a:spLocks noGrp="1"/>
          </p:cNvSpPr>
          <p:nvPr>
            <p:ph idx="1"/>
          </p:nvPr>
        </p:nvSpPr>
        <p:spPr>
          <a:xfrm>
            <a:off x="179512" y="1773238"/>
            <a:ext cx="8784976" cy="4968130"/>
          </a:xfrm>
        </p:spPr>
        <p:txBody>
          <a:bodyPr/>
          <a:lstStyle/>
          <a:p>
            <a:pPr marL="0" indent="0">
              <a:buNone/>
            </a:pPr>
            <a:r>
              <a:rPr lang="en-US" altLang="en-US" sz="2800" dirty="0">
                <a:solidFill>
                  <a:srgbClr val="003300"/>
                </a:solidFill>
                <a:latin typeface="Amasis MT Pro Light" panose="02040304050005020304" pitchFamily="18" charset="0"/>
              </a:rPr>
              <a:t>In this fiber , Radially the RI of Core continuously decreases from center to the surface.</a:t>
            </a:r>
          </a:p>
          <a:p>
            <a:endParaRPr lang="en-US" altLang="en-US" sz="2800" dirty="0">
              <a:solidFill>
                <a:srgbClr val="003300"/>
              </a:solidFill>
              <a:latin typeface="Amasis MT Pro Light" panose="02040304050005020304" pitchFamily="18" charset="0"/>
            </a:endParaRPr>
          </a:p>
          <a:p>
            <a:pPr marL="0" indent="0">
              <a:buNone/>
            </a:pPr>
            <a:r>
              <a:rPr lang="en-US" altLang="en-US" sz="2800" dirty="0">
                <a:solidFill>
                  <a:srgbClr val="003300"/>
                </a:solidFill>
                <a:latin typeface="Amasis MT Pro Light" panose="02040304050005020304" pitchFamily="18" charset="0"/>
              </a:rPr>
              <a:t>The RI  is maximum at the </a:t>
            </a:r>
            <a:r>
              <a:rPr lang="en-US" altLang="en-US" sz="2800" dirty="0">
                <a:solidFill>
                  <a:schemeClr val="bg2"/>
                </a:solidFill>
                <a:latin typeface="Amasis MT Pro Light" panose="02040304050005020304" pitchFamily="18" charset="0"/>
              </a:rPr>
              <a:t>center of Core </a:t>
            </a:r>
            <a:r>
              <a:rPr lang="en-US" altLang="en-US" sz="2800" dirty="0">
                <a:solidFill>
                  <a:srgbClr val="003300"/>
                </a:solidFill>
                <a:latin typeface="Amasis MT Pro Light" panose="02040304050005020304" pitchFamily="18" charset="0"/>
              </a:rPr>
              <a:t>and Minimum at the</a:t>
            </a:r>
            <a:r>
              <a:rPr lang="en-US" altLang="en-US" sz="2800" dirty="0">
                <a:solidFill>
                  <a:srgbClr val="FF0000"/>
                </a:solidFill>
                <a:latin typeface="Amasis MT Pro Light" panose="02040304050005020304" pitchFamily="18" charset="0"/>
              </a:rPr>
              <a:t> </a:t>
            </a:r>
            <a:r>
              <a:rPr lang="en-US" altLang="en-US" sz="2800" dirty="0">
                <a:solidFill>
                  <a:schemeClr val="bg2"/>
                </a:solidFill>
                <a:latin typeface="Amasis MT Pro Light" panose="02040304050005020304" pitchFamily="18" charset="0"/>
              </a:rPr>
              <a:t>Surface</a:t>
            </a:r>
            <a:r>
              <a:rPr lang="en-US" altLang="en-US" sz="2800" dirty="0">
                <a:solidFill>
                  <a:srgbClr val="003300"/>
                </a:solidFill>
                <a:latin typeface="Amasis MT Pro Light" panose="02040304050005020304" pitchFamily="18" charset="0"/>
              </a:rPr>
              <a:t>.</a:t>
            </a:r>
          </a:p>
          <a:p>
            <a:endParaRPr lang="en-US" altLang="en-US" sz="2800" dirty="0">
              <a:solidFill>
                <a:srgbClr val="003300"/>
              </a:solidFill>
              <a:latin typeface="Amasis MT Pro Light" panose="02040304050005020304" pitchFamily="18" charset="0"/>
            </a:endParaRPr>
          </a:p>
          <a:p>
            <a:pPr marL="0" indent="0">
              <a:buNone/>
            </a:pPr>
            <a:r>
              <a:rPr lang="en-US" altLang="en-US" sz="2800" dirty="0">
                <a:solidFill>
                  <a:srgbClr val="003300"/>
                </a:solidFill>
                <a:latin typeface="Amasis MT Pro Light" panose="02040304050005020304" pitchFamily="18" charset="0"/>
              </a:rPr>
              <a:t>This fiber can be a single mode or Multimode ,the diameters of core and cladding varies from</a:t>
            </a:r>
            <a:r>
              <a:rPr lang="en-US" altLang="en-US" sz="2800" dirty="0">
                <a:solidFill>
                  <a:srgbClr val="0000FF"/>
                </a:solidFill>
                <a:latin typeface="Amasis MT Pro Light" panose="02040304050005020304" pitchFamily="18" charset="0"/>
              </a:rPr>
              <a:t> 50-200µm </a:t>
            </a:r>
            <a:r>
              <a:rPr lang="en-US" altLang="en-US" sz="2800" dirty="0">
                <a:solidFill>
                  <a:srgbClr val="003300"/>
                </a:solidFill>
                <a:latin typeface="Amasis MT Pro Light" panose="02040304050005020304" pitchFamily="18" charset="0"/>
              </a:rPr>
              <a:t>and </a:t>
            </a:r>
            <a:r>
              <a:rPr lang="en-US" altLang="en-US" sz="2800" dirty="0">
                <a:solidFill>
                  <a:srgbClr val="0000FF"/>
                </a:solidFill>
                <a:latin typeface="Amasis MT Pro Light" panose="02040304050005020304" pitchFamily="18" charset="0"/>
              </a:rPr>
              <a:t>100-250µm </a:t>
            </a:r>
            <a:r>
              <a:rPr lang="en-US" altLang="en-US" sz="2800" dirty="0">
                <a:solidFill>
                  <a:srgbClr val="003300"/>
                </a:solidFill>
                <a:latin typeface="Amasis MT Pro Light" panose="02040304050005020304" pitchFamily="18" charset="0"/>
              </a:rPr>
              <a:t>respectively.</a:t>
            </a:r>
          </a:p>
          <a:p>
            <a:pPr marL="0" indent="0">
              <a:buNone/>
            </a:pPr>
            <a:endParaRPr lang="en-AE" dirty="0"/>
          </a:p>
        </p:txBody>
      </p:sp>
    </p:spTree>
    <p:extLst>
      <p:ext uri="{BB962C8B-B14F-4D97-AF65-F5344CB8AC3E}">
        <p14:creationId xmlns:p14="http://schemas.microsoft.com/office/powerpoint/2010/main" val="3532099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D6CEF90-3623-66D9-8D2F-83486AD88214}"/>
              </a:ext>
            </a:extLst>
          </p:cNvPr>
          <p:cNvSpPr>
            <a:spLocks noGrp="1"/>
          </p:cNvSpPr>
          <p:nvPr>
            <p:ph type="title"/>
          </p:nvPr>
        </p:nvSpPr>
        <p:spPr>
          <a:xfrm>
            <a:off x="2699792" y="44625"/>
            <a:ext cx="5472658" cy="1224136"/>
          </a:xfrm>
        </p:spPr>
        <p:txBody>
          <a:bodyPr/>
          <a:lstStyle/>
          <a:p>
            <a:r>
              <a:rPr lang="en-US" b="1" i="0" dirty="0">
                <a:effectLst/>
                <a:latin typeface="Agency FB" panose="020B0503020202020204" pitchFamily="34" charset="0"/>
              </a:rPr>
              <a:t>Uses of Fiber Optic Cables</a:t>
            </a:r>
            <a:endParaRPr lang="en-AE" dirty="0"/>
          </a:p>
        </p:txBody>
      </p:sp>
      <p:sp>
        <p:nvSpPr>
          <p:cNvPr id="14" name="Content Placeholder 13">
            <a:extLst>
              <a:ext uri="{FF2B5EF4-FFF2-40B4-BE49-F238E27FC236}">
                <a16:creationId xmlns:a16="http://schemas.microsoft.com/office/drawing/2014/main" id="{5D40301D-BA22-6293-40C7-DF35E29386EA}"/>
              </a:ext>
            </a:extLst>
          </p:cNvPr>
          <p:cNvSpPr>
            <a:spLocks noGrp="1"/>
          </p:cNvSpPr>
          <p:nvPr>
            <p:ph idx="1"/>
          </p:nvPr>
        </p:nvSpPr>
        <p:spPr>
          <a:xfrm>
            <a:off x="2483768" y="1556792"/>
            <a:ext cx="6336382" cy="5112568"/>
          </a:xfrm>
        </p:spPr>
        <p:txBody>
          <a:bodyPr/>
          <a:lstStyle/>
          <a:p>
            <a:r>
              <a:rPr lang="en-US" b="1" i="0" dirty="0">
                <a:effectLst/>
                <a:latin typeface="Amasis MT Pro Light" panose="02040304050005020304" pitchFamily="18" charset="0"/>
              </a:rPr>
              <a:t>Internet</a:t>
            </a:r>
          </a:p>
          <a:p>
            <a:r>
              <a:rPr lang="en-US" b="1" i="0" dirty="0">
                <a:effectLst/>
                <a:latin typeface="Amasis MT Pro Light" panose="02040304050005020304" pitchFamily="18" charset="0"/>
              </a:rPr>
              <a:t>Cable Television</a:t>
            </a:r>
          </a:p>
          <a:p>
            <a:r>
              <a:rPr lang="en-US" b="1" i="0" dirty="0">
                <a:effectLst/>
                <a:latin typeface="Amasis MT Pro Light" panose="02040304050005020304" pitchFamily="18" charset="0"/>
              </a:rPr>
              <a:t>Telephone</a:t>
            </a:r>
          </a:p>
          <a:p>
            <a:r>
              <a:rPr lang="en-US" b="1" i="0" dirty="0">
                <a:effectLst/>
                <a:latin typeface="Amasis MT Pro Light" panose="02040304050005020304" pitchFamily="18" charset="0"/>
              </a:rPr>
              <a:t>Lighting and Decorations</a:t>
            </a:r>
          </a:p>
          <a:p>
            <a:r>
              <a:rPr lang="en-US" b="1" i="0" dirty="0">
                <a:effectLst/>
                <a:latin typeface="Amasis MT Pro Light" panose="02040304050005020304" pitchFamily="18" charset="0"/>
              </a:rPr>
              <a:t>Surgery</a:t>
            </a:r>
          </a:p>
          <a:p>
            <a:endParaRPr lang="en-AE" dirty="0"/>
          </a:p>
        </p:txBody>
      </p:sp>
    </p:spTree>
    <p:extLst>
      <p:ext uri="{BB962C8B-B14F-4D97-AF65-F5344CB8AC3E}">
        <p14:creationId xmlns:p14="http://schemas.microsoft.com/office/powerpoint/2010/main" val="225454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D412-3B00-4CBD-6641-17E24425C871}"/>
              </a:ext>
            </a:extLst>
          </p:cNvPr>
          <p:cNvSpPr>
            <a:spLocks noGrp="1"/>
          </p:cNvSpPr>
          <p:nvPr>
            <p:ph type="title"/>
          </p:nvPr>
        </p:nvSpPr>
        <p:spPr>
          <a:xfrm>
            <a:off x="1619250" y="1628800"/>
            <a:ext cx="6553200" cy="76175"/>
          </a:xfrm>
        </p:spPr>
        <p:txBody>
          <a:bodyPr/>
          <a:lstStyle/>
          <a:p>
            <a:r>
              <a:rPr lang="en-US" b="1" i="0" dirty="0">
                <a:effectLst/>
                <a:latin typeface="Agency FB" panose="020B0503020202020204" pitchFamily="34" charset="0"/>
              </a:rPr>
              <a:t>Advantages of Optical Fiber</a:t>
            </a:r>
            <a:br>
              <a:rPr lang="en-US" sz="3200" b="1" i="0" dirty="0">
                <a:solidFill>
                  <a:srgbClr val="19191A"/>
                </a:solidFill>
                <a:effectLst/>
                <a:latin typeface="Agency FB" panose="020B0503020202020204" pitchFamily="34" charset="0"/>
              </a:rPr>
            </a:br>
            <a:r>
              <a:rPr lang="en-US" sz="3200" b="1" i="0" dirty="0">
                <a:solidFill>
                  <a:srgbClr val="19191A"/>
                </a:solidFill>
                <a:effectLst/>
                <a:latin typeface="Agency FB" panose="020B0503020202020204" pitchFamily="34" charset="0"/>
              </a:rPr>
              <a:t> </a:t>
            </a:r>
            <a:br>
              <a:rPr lang="en-US" b="1" i="0" dirty="0">
                <a:solidFill>
                  <a:srgbClr val="19191A"/>
                </a:solidFill>
                <a:effectLst/>
                <a:latin typeface="Open Sans" panose="020B0606030504020204" pitchFamily="34" charset="0"/>
              </a:rPr>
            </a:br>
            <a:endParaRPr lang="en-AE" dirty="0"/>
          </a:p>
        </p:txBody>
      </p:sp>
      <p:sp>
        <p:nvSpPr>
          <p:cNvPr id="3" name="Content Placeholder 2">
            <a:extLst>
              <a:ext uri="{FF2B5EF4-FFF2-40B4-BE49-F238E27FC236}">
                <a16:creationId xmlns:a16="http://schemas.microsoft.com/office/drawing/2014/main" id="{52854B3B-FD1A-F5C6-9172-2C4B3DE16D04}"/>
              </a:ext>
            </a:extLst>
          </p:cNvPr>
          <p:cNvSpPr>
            <a:spLocks noGrp="1"/>
          </p:cNvSpPr>
          <p:nvPr>
            <p:ph idx="1"/>
          </p:nvPr>
        </p:nvSpPr>
        <p:spPr>
          <a:xfrm>
            <a:off x="1619250" y="2353046"/>
            <a:ext cx="7200900" cy="4098553"/>
          </a:xfrm>
        </p:spPr>
        <p:txBody>
          <a:bodyPr/>
          <a:lstStyle/>
          <a:p>
            <a:r>
              <a:rPr lang="en-US" b="1" i="0" dirty="0">
                <a:effectLst/>
                <a:latin typeface="Amasis MT Pro Light" panose="02040304050005020304" pitchFamily="18" charset="0"/>
              </a:rPr>
              <a:t>Cheap</a:t>
            </a:r>
          </a:p>
          <a:p>
            <a:r>
              <a:rPr lang="en-US" b="1" i="0" dirty="0">
                <a:effectLst/>
                <a:latin typeface="Amasis MT Pro Light" panose="02040304050005020304" pitchFamily="18" charset="0"/>
              </a:rPr>
              <a:t>Thinner and light-weighted</a:t>
            </a:r>
            <a:endParaRPr lang="en-US" b="1" dirty="0">
              <a:latin typeface="Amasis MT Pro Light" panose="02040304050005020304" pitchFamily="18" charset="0"/>
            </a:endParaRPr>
          </a:p>
          <a:p>
            <a:r>
              <a:rPr lang="en-US" b="1" i="0" dirty="0">
                <a:effectLst/>
                <a:latin typeface="Amasis MT Pro Light" panose="02040304050005020304" pitchFamily="18" charset="0"/>
              </a:rPr>
              <a:t>Higher carrying capacity</a:t>
            </a:r>
          </a:p>
          <a:p>
            <a:r>
              <a:rPr lang="en-US" b="1" i="0" dirty="0">
                <a:effectLst/>
                <a:latin typeface="Amasis MT Pro Light" panose="02040304050005020304" pitchFamily="18" charset="0"/>
              </a:rPr>
              <a:t>Less signal degradation</a:t>
            </a:r>
            <a:endParaRPr lang="en-US" b="1" dirty="0">
              <a:latin typeface="Amasis MT Pro Light" panose="02040304050005020304" pitchFamily="18" charset="0"/>
            </a:endParaRPr>
          </a:p>
          <a:p>
            <a:r>
              <a:rPr lang="en-US" b="1" i="0" dirty="0">
                <a:effectLst/>
                <a:latin typeface="Amasis MT Pro Light" panose="02040304050005020304" pitchFamily="18" charset="0"/>
              </a:rPr>
              <a:t>Long lifespan</a:t>
            </a:r>
          </a:p>
          <a:p>
            <a:pPr marL="0" indent="0">
              <a:buNone/>
            </a:pPr>
            <a:endParaRPr lang="en-AE" dirty="0"/>
          </a:p>
        </p:txBody>
      </p:sp>
    </p:spTree>
    <p:extLst>
      <p:ext uri="{BB962C8B-B14F-4D97-AF65-F5344CB8AC3E}">
        <p14:creationId xmlns:p14="http://schemas.microsoft.com/office/powerpoint/2010/main" val="1064787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42698-93A1-AD9C-A9AE-2FF61A02674D}"/>
              </a:ext>
            </a:extLst>
          </p:cNvPr>
          <p:cNvSpPr>
            <a:spLocks noGrp="1"/>
          </p:cNvSpPr>
          <p:nvPr>
            <p:ph type="title"/>
          </p:nvPr>
        </p:nvSpPr>
        <p:spPr>
          <a:xfrm>
            <a:off x="1619250" y="1340767"/>
            <a:ext cx="6553200" cy="364207"/>
          </a:xfrm>
        </p:spPr>
        <p:txBody>
          <a:bodyPr/>
          <a:lstStyle/>
          <a:p>
            <a:r>
              <a:rPr lang="en-US" b="1" i="0" dirty="0">
                <a:effectLst/>
                <a:latin typeface="Agency FB" panose="020B0503020202020204" pitchFamily="34" charset="0"/>
              </a:rPr>
              <a:t>Disadvantages of Optical Fiber</a:t>
            </a:r>
            <a:br>
              <a:rPr lang="en-US" b="1" i="0" dirty="0">
                <a:effectLst/>
                <a:latin typeface="Agency FB" panose="020B0503020202020204" pitchFamily="34" charset="0"/>
              </a:rPr>
            </a:br>
            <a:endParaRPr lang="en-AE" dirty="0">
              <a:latin typeface="Agency FB" panose="020B0503020202020204" pitchFamily="34" charset="0"/>
            </a:endParaRPr>
          </a:p>
        </p:txBody>
      </p:sp>
      <p:sp>
        <p:nvSpPr>
          <p:cNvPr id="3" name="Content Placeholder 2">
            <a:extLst>
              <a:ext uri="{FF2B5EF4-FFF2-40B4-BE49-F238E27FC236}">
                <a16:creationId xmlns:a16="http://schemas.microsoft.com/office/drawing/2014/main" id="{42A5ADE2-A77F-0770-5B5B-AE1CAB8695DC}"/>
              </a:ext>
            </a:extLst>
          </p:cNvPr>
          <p:cNvSpPr>
            <a:spLocks noGrp="1"/>
          </p:cNvSpPr>
          <p:nvPr>
            <p:ph idx="1"/>
          </p:nvPr>
        </p:nvSpPr>
        <p:spPr>
          <a:xfrm>
            <a:off x="611560" y="2276872"/>
            <a:ext cx="8352928" cy="4464496"/>
          </a:xfrm>
        </p:spPr>
        <p:txBody>
          <a:bodyPr/>
          <a:lstStyle/>
          <a:p>
            <a:r>
              <a:rPr lang="en-US" b="1" i="0" dirty="0">
                <a:solidFill>
                  <a:schemeClr val="bg2"/>
                </a:solidFill>
                <a:effectLst/>
                <a:latin typeface="Amasis MT Pro Light" panose="02040304050005020304" pitchFamily="18" charset="0"/>
              </a:rPr>
              <a:t>Low power</a:t>
            </a:r>
          </a:p>
          <a:p>
            <a:pPr marL="0" indent="0">
              <a:buNone/>
            </a:pPr>
            <a:r>
              <a:rPr lang="en-US" b="0" i="0" dirty="0">
                <a:solidFill>
                  <a:srgbClr val="19191A"/>
                </a:solidFill>
                <a:effectLst/>
                <a:latin typeface="Amasis MT Pro Light" panose="02040304050005020304" pitchFamily="18" charset="0"/>
              </a:rPr>
              <a:t>         </a:t>
            </a:r>
            <a:r>
              <a:rPr lang="en-US" sz="2400" b="0" i="0" dirty="0">
                <a:solidFill>
                  <a:srgbClr val="19191A"/>
                </a:solidFill>
                <a:effectLst/>
                <a:latin typeface="Amasis MT Pro Light" panose="02040304050005020304" pitchFamily="18" charset="0"/>
              </a:rPr>
              <a:t>Light emitting sources are limited to low power.</a:t>
            </a:r>
            <a:endParaRPr lang="en-US" sz="2400" b="1" i="0" dirty="0">
              <a:effectLst/>
              <a:latin typeface="Amasis MT Pro Light" panose="02040304050005020304" pitchFamily="18" charset="0"/>
            </a:endParaRPr>
          </a:p>
          <a:p>
            <a:r>
              <a:rPr lang="en-US" b="1" i="0" dirty="0">
                <a:solidFill>
                  <a:schemeClr val="bg2"/>
                </a:solidFill>
                <a:effectLst/>
                <a:latin typeface="Amasis MT Pro Light" panose="02040304050005020304" pitchFamily="18" charset="0"/>
              </a:rPr>
              <a:t>Fragility</a:t>
            </a:r>
          </a:p>
          <a:p>
            <a:pPr marL="0" indent="0">
              <a:buNone/>
            </a:pPr>
            <a:r>
              <a:rPr lang="en-US" b="1" dirty="0">
                <a:latin typeface="Amasis MT Pro Light" panose="02040304050005020304" pitchFamily="18" charset="0"/>
              </a:rPr>
              <a:t>        </a:t>
            </a:r>
            <a:r>
              <a:rPr lang="en-US" sz="2400" b="0" i="0" dirty="0">
                <a:solidFill>
                  <a:srgbClr val="19191A"/>
                </a:solidFill>
                <a:effectLst/>
                <a:latin typeface="Amasis MT Pro Light" panose="02040304050005020304" pitchFamily="18" charset="0"/>
              </a:rPr>
              <a:t>Optical fiber is rather fragile and more vulnerable                to damage compared to copper wires.</a:t>
            </a:r>
            <a:endParaRPr lang="en-US" sz="2400" b="1" dirty="0">
              <a:latin typeface="Amasis MT Pro Light" panose="02040304050005020304" pitchFamily="18" charset="0"/>
            </a:endParaRPr>
          </a:p>
          <a:p>
            <a:r>
              <a:rPr lang="en-US" b="1" i="0" dirty="0">
                <a:solidFill>
                  <a:schemeClr val="bg2"/>
                </a:solidFill>
                <a:effectLst/>
                <a:latin typeface="Amasis MT Pro Light" panose="02040304050005020304" pitchFamily="18" charset="0"/>
              </a:rPr>
              <a:t>Distance</a:t>
            </a:r>
          </a:p>
          <a:p>
            <a:pPr marL="0" indent="0">
              <a:buNone/>
            </a:pPr>
            <a:r>
              <a:rPr lang="en-US" b="1" dirty="0">
                <a:solidFill>
                  <a:schemeClr val="bg2"/>
                </a:solidFill>
                <a:latin typeface="Amasis MT Pro Light" panose="02040304050005020304" pitchFamily="18" charset="0"/>
              </a:rPr>
              <a:t>       </a:t>
            </a:r>
            <a:r>
              <a:rPr lang="en-US" sz="2400" b="0" i="0" dirty="0">
                <a:solidFill>
                  <a:srgbClr val="19191A"/>
                </a:solidFill>
                <a:effectLst/>
                <a:latin typeface="Amasis MT Pro Light" panose="02040304050005020304" pitchFamily="18" charset="0"/>
              </a:rPr>
              <a:t>The distance between the transmitter and receiver should keep short or repeaters are needed to boost the signal</a:t>
            </a:r>
            <a:r>
              <a:rPr lang="en-US" b="0" i="0" dirty="0">
                <a:solidFill>
                  <a:srgbClr val="19191A"/>
                </a:solidFill>
                <a:effectLst/>
                <a:latin typeface="Open Sans" panose="020B0606030504020204" pitchFamily="34" charset="0"/>
              </a:rPr>
              <a:t>.</a:t>
            </a:r>
            <a:endParaRPr lang="en-AE" b="1" dirty="0">
              <a:solidFill>
                <a:schemeClr val="bg2"/>
              </a:solidFill>
              <a:latin typeface="Amasis MT Pro Light" panose="02040304050005020304" pitchFamily="18" charset="0"/>
            </a:endParaRPr>
          </a:p>
        </p:txBody>
      </p:sp>
    </p:spTree>
    <p:extLst>
      <p:ext uri="{BB962C8B-B14F-4D97-AF65-F5344CB8AC3E}">
        <p14:creationId xmlns:p14="http://schemas.microsoft.com/office/powerpoint/2010/main" val="1611254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E532-E606-DBE9-459A-051A72A91E7A}"/>
              </a:ext>
            </a:extLst>
          </p:cNvPr>
          <p:cNvSpPr>
            <a:spLocks noGrp="1"/>
          </p:cNvSpPr>
          <p:nvPr>
            <p:ph type="title"/>
          </p:nvPr>
        </p:nvSpPr>
        <p:spPr>
          <a:xfrm>
            <a:off x="2123728" y="1340767"/>
            <a:ext cx="6048722" cy="364207"/>
          </a:xfrm>
        </p:spPr>
        <p:txBody>
          <a:bodyPr/>
          <a:lstStyle/>
          <a:p>
            <a:r>
              <a:rPr lang="en-US" b="1" i="0" u="none" strike="noStrike" dirty="0">
                <a:effectLst/>
                <a:latin typeface="Agency FB" panose="020B0503020202020204" pitchFamily="34" charset="0"/>
              </a:rPr>
              <a:t>Conclusion</a:t>
            </a:r>
            <a:br>
              <a:rPr lang="en-US" b="1" i="0" u="none" strike="noStrike" dirty="0">
                <a:solidFill>
                  <a:srgbClr val="19191A"/>
                </a:solidFill>
                <a:effectLst/>
                <a:latin typeface="Open Sans" panose="020B0606030504020204" pitchFamily="34" charset="0"/>
              </a:rPr>
            </a:br>
            <a:endParaRPr lang="en-AE" dirty="0"/>
          </a:p>
        </p:txBody>
      </p:sp>
      <p:sp>
        <p:nvSpPr>
          <p:cNvPr id="3" name="Content Placeholder 2">
            <a:extLst>
              <a:ext uri="{FF2B5EF4-FFF2-40B4-BE49-F238E27FC236}">
                <a16:creationId xmlns:a16="http://schemas.microsoft.com/office/drawing/2014/main" id="{9B6F25CC-BD73-4C92-9391-1D9484CED3CD}"/>
              </a:ext>
            </a:extLst>
          </p:cNvPr>
          <p:cNvSpPr>
            <a:spLocks noGrp="1"/>
          </p:cNvSpPr>
          <p:nvPr>
            <p:ph idx="1"/>
          </p:nvPr>
        </p:nvSpPr>
        <p:spPr>
          <a:xfrm>
            <a:off x="179512" y="3068960"/>
            <a:ext cx="8640638" cy="2592288"/>
          </a:xfrm>
        </p:spPr>
        <p:txBody>
          <a:bodyPr/>
          <a:lstStyle/>
          <a:p>
            <a:pPr marL="0" indent="0" algn="just">
              <a:buNone/>
            </a:pPr>
            <a:r>
              <a:rPr lang="en-US" b="0" i="0" dirty="0">
                <a:solidFill>
                  <a:srgbClr val="19191A"/>
                </a:solidFill>
                <a:effectLst/>
                <a:latin typeface="Amasis MT Pro Light" panose="02040304050005020304" pitchFamily="18" charset="0"/>
              </a:rPr>
              <a:t>Optical fiber provides a fast, constant and stable Internet connection that allows a lot of data to be transmitted over incredible distances. As data demands become enormous, fiber optic cabling is the sure way to go for network flexibility and stability.</a:t>
            </a:r>
          </a:p>
          <a:p>
            <a:pPr marL="0" indent="0">
              <a:buNone/>
            </a:pPr>
            <a:endParaRPr lang="en-AE" dirty="0"/>
          </a:p>
        </p:txBody>
      </p:sp>
    </p:spTree>
    <p:extLst>
      <p:ext uri="{BB962C8B-B14F-4D97-AF65-F5344CB8AC3E}">
        <p14:creationId xmlns:p14="http://schemas.microsoft.com/office/powerpoint/2010/main" val="3080923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obbles the Fiber Optic Turkey--Happy Thanksgiving | eBay">
            <a:extLst>
              <a:ext uri="{FF2B5EF4-FFF2-40B4-BE49-F238E27FC236}">
                <a16:creationId xmlns:a16="http://schemas.microsoft.com/office/drawing/2014/main" id="{B3BBD076-AC98-CA5E-F427-63465C0ED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8784976"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820281"/>
      </p:ext>
    </p:extLst>
  </p:cSld>
  <p:clrMapOvr>
    <a:masterClrMapping/>
  </p:clrMapOvr>
</p:sld>
</file>

<file path=ppt/theme/theme1.xml><?xml version="1.0" encoding="utf-8"?>
<a:theme xmlns:a="http://schemas.openxmlformats.org/drawingml/2006/main" name="template">
  <a:themeElements>
    <a:clrScheme name="template 7">
      <a:dk1>
        <a:srgbClr val="4D4D4D"/>
      </a:dk1>
      <a:lt1>
        <a:srgbClr val="FFFFFF"/>
      </a:lt1>
      <a:dk2>
        <a:srgbClr val="4D4D4D"/>
      </a:dk2>
      <a:lt2>
        <a:srgbClr val="003399"/>
      </a:lt2>
      <a:accent1>
        <a:srgbClr val="6699FF"/>
      </a:accent1>
      <a:accent2>
        <a:srgbClr val="3399FF"/>
      </a:accent2>
      <a:accent3>
        <a:srgbClr val="FFFFFF"/>
      </a:accent3>
      <a:accent4>
        <a:srgbClr val="404040"/>
      </a:accent4>
      <a:accent5>
        <a:srgbClr val="B8CAFF"/>
      </a:accent5>
      <a:accent6>
        <a:srgbClr val="2D8AE7"/>
      </a:accent6>
      <a:hlink>
        <a:srgbClr val="669900"/>
      </a:hlink>
      <a:folHlink>
        <a:srgbClr val="DDDDDD"/>
      </a:folHlink>
    </a:clrScheme>
    <a:fontScheme name="template">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emplate 1">
        <a:dk1>
          <a:srgbClr val="4D4D4D"/>
        </a:dk1>
        <a:lt1>
          <a:srgbClr val="FFFFFF"/>
        </a:lt1>
        <a:dk2>
          <a:srgbClr val="4D4D4D"/>
        </a:dk2>
        <a:lt2>
          <a:srgbClr val="0099FF"/>
        </a:lt2>
        <a:accent1>
          <a:srgbClr val="003399"/>
        </a:accent1>
        <a:accent2>
          <a:srgbClr val="CCECFF"/>
        </a:accent2>
        <a:accent3>
          <a:srgbClr val="FFFFFF"/>
        </a:accent3>
        <a:accent4>
          <a:srgbClr val="404040"/>
        </a:accent4>
        <a:accent5>
          <a:srgbClr val="AAADCA"/>
        </a:accent5>
        <a:accent6>
          <a:srgbClr val="B9D6E7"/>
        </a:accent6>
        <a:hlink>
          <a:srgbClr val="6699FF"/>
        </a:hlink>
        <a:folHlink>
          <a:srgbClr val="EAEAEA"/>
        </a:folHlink>
      </a:clrScheme>
      <a:clrMap bg1="lt1" tx1="dk1" bg2="lt2" tx2="dk2" accent1="accent1" accent2="accent2" accent3="accent3" accent4="accent4" accent5="accent5" accent6="accent6" hlink="hlink" folHlink="folHlink"/>
    </a:extraClrScheme>
    <a:extraClrScheme>
      <a:clrScheme name="template 2">
        <a:dk1>
          <a:srgbClr val="4D4D4D"/>
        </a:dk1>
        <a:lt1>
          <a:srgbClr val="FFFFFF"/>
        </a:lt1>
        <a:dk2>
          <a:srgbClr val="4D4D4D"/>
        </a:dk2>
        <a:lt2>
          <a:srgbClr val="003399"/>
        </a:lt2>
        <a:accent1>
          <a:srgbClr val="FF66CC"/>
        </a:accent1>
        <a:accent2>
          <a:srgbClr val="6699FF"/>
        </a:accent2>
        <a:accent3>
          <a:srgbClr val="FFFFFF"/>
        </a:accent3>
        <a:accent4>
          <a:srgbClr val="404040"/>
        </a:accent4>
        <a:accent5>
          <a:srgbClr val="FFB8E2"/>
        </a:accent5>
        <a:accent6>
          <a:srgbClr val="5C8AE7"/>
        </a:accent6>
        <a:hlink>
          <a:srgbClr val="FFCC99"/>
        </a:hlink>
        <a:folHlink>
          <a:srgbClr val="DDDDDD"/>
        </a:folHlink>
      </a:clrScheme>
      <a:clrMap bg1="lt1" tx1="dk1" bg2="lt2" tx2="dk2" accent1="accent1" accent2="accent2" accent3="accent3" accent4="accent4" accent5="accent5" accent6="accent6" hlink="hlink" folHlink="folHlink"/>
    </a:extraClrScheme>
    <a:extraClrScheme>
      <a:clrScheme name="template 3">
        <a:dk1>
          <a:srgbClr val="4D4D4D"/>
        </a:dk1>
        <a:lt1>
          <a:srgbClr val="FFFFFF"/>
        </a:lt1>
        <a:dk2>
          <a:srgbClr val="4D4D4D"/>
        </a:dk2>
        <a:lt2>
          <a:srgbClr val="003399"/>
        </a:lt2>
        <a:accent1>
          <a:srgbClr val="CC0000"/>
        </a:accent1>
        <a:accent2>
          <a:srgbClr val="6699FF"/>
        </a:accent2>
        <a:accent3>
          <a:srgbClr val="FFFFFF"/>
        </a:accent3>
        <a:accent4>
          <a:srgbClr val="404040"/>
        </a:accent4>
        <a:accent5>
          <a:srgbClr val="E2AAAA"/>
        </a:accent5>
        <a:accent6>
          <a:srgbClr val="5C8AE7"/>
        </a:accent6>
        <a:hlink>
          <a:srgbClr val="33CCFF"/>
        </a:hlink>
        <a:folHlink>
          <a:srgbClr val="DDDDDD"/>
        </a:folHlink>
      </a:clrScheme>
      <a:clrMap bg1="lt1" tx1="dk1" bg2="lt2" tx2="dk2" accent1="accent1" accent2="accent2" accent3="accent3" accent4="accent4" accent5="accent5" accent6="accent6" hlink="hlink" folHlink="folHlink"/>
    </a:extraClrScheme>
    <a:extraClrScheme>
      <a:clrScheme name="template 4">
        <a:dk1>
          <a:srgbClr val="4D4D4D"/>
        </a:dk1>
        <a:lt1>
          <a:srgbClr val="FFFFFF"/>
        </a:lt1>
        <a:dk2>
          <a:srgbClr val="4D4D4D"/>
        </a:dk2>
        <a:lt2>
          <a:srgbClr val="003399"/>
        </a:lt2>
        <a:accent1>
          <a:srgbClr val="CC0000"/>
        </a:accent1>
        <a:accent2>
          <a:srgbClr val="6699FF"/>
        </a:accent2>
        <a:accent3>
          <a:srgbClr val="FFFFFF"/>
        </a:accent3>
        <a:accent4>
          <a:srgbClr val="404040"/>
        </a:accent4>
        <a:accent5>
          <a:srgbClr val="E2AAAA"/>
        </a:accent5>
        <a:accent6>
          <a:srgbClr val="5C8AE7"/>
        </a:accent6>
        <a:hlink>
          <a:srgbClr val="99CCFF"/>
        </a:hlink>
        <a:folHlink>
          <a:srgbClr val="DDDDDD"/>
        </a:folHlink>
      </a:clrScheme>
      <a:clrMap bg1="lt1" tx1="dk1" bg2="lt2" tx2="dk2" accent1="accent1" accent2="accent2" accent3="accent3" accent4="accent4" accent5="accent5" accent6="accent6" hlink="hlink" folHlink="folHlink"/>
    </a:extraClrScheme>
    <a:extraClrScheme>
      <a:clrScheme name="template 5">
        <a:dk1>
          <a:srgbClr val="4D4D4D"/>
        </a:dk1>
        <a:lt1>
          <a:srgbClr val="FFFFFF"/>
        </a:lt1>
        <a:dk2>
          <a:srgbClr val="4D4D4D"/>
        </a:dk2>
        <a:lt2>
          <a:srgbClr val="003399"/>
        </a:lt2>
        <a:accent1>
          <a:srgbClr val="33CCFF"/>
        </a:accent1>
        <a:accent2>
          <a:srgbClr val="6699FF"/>
        </a:accent2>
        <a:accent3>
          <a:srgbClr val="FFFFFF"/>
        </a:accent3>
        <a:accent4>
          <a:srgbClr val="404040"/>
        </a:accent4>
        <a:accent5>
          <a:srgbClr val="ADE2FF"/>
        </a:accent5>
        <a:accent6>
          <a:srgbClr val="5C8AE7"/>
        </a:accent6>
        <a:hlink>
          <a:srgbClr val="99CCFF"/>
        </a:hlink>
        <a:folHlink>
          <a:srgbClr val="DDDDDD"/>
        </a:folHlink>
      </a:clrScheme>
      <a:clrMap bg1="lt1" tx1="dk1" bg2="lt2" tx2="dk2" accent1="accent1" accent2="accent2" accent3="accent3" accent4="accent4" accent5="accent5" accent6="accent6" hlink="hlink" folHlink="folHlink"/>
    </a:extraClrScheme>
    <a:extraClrScheme>
      <a:clrScheme name="template 6">
        <a:dk1>
          <a:srgbClr val="4D4D4D"/>
        </a:dk1>
        <a:lt1>
          <a:srgbClr val="FFFFFF"/>
        </a:lt1>
        <a:dk2>
          <a:srgbClr val="4D4D4D"/>
        </a:dk2>
        <a:lt2>
          <a:srgbClr val="003399"/>
        </a:lt2>
        <a:accent1>
          <a:srgbClr val="6699FF"/>
        </a:accent1>
        <a:accent2>
          <a:srgbClr val="3399FF"/>
        </a:accent2>
        <a:accent3>
          <a:srgbClr val="FFFFFF"/>
        </a:accent3>
        <a:accent4>
          <a:srgbClr val="404040"/>
        </a:accent4>
        <a:accent5>
          <a:srgbClr val="B8CAFF"/>
        </a:accent5>
        <a:accent6>
          <a:srgbClr val="2D8AE7"/>
        </a:accent6>
        <a:hlink>
          <a:srgbClr val="99CCFF"/>
        </a:hlink>
        <a:folHlink>
          <a:srgbClr val="DDDDDD"/>
        </a:folHlink>
      </a:clrScheme>
      <a:clrMap bg1="lt1" tx1="dk1" bg2="lt2" tx2="dk2" accent1="accent1" accent2="accent2" accent3="accent3" accent4="accent4" accent5="accent5" accent6="accent6" hlink="hlink" folHlink="folHlink"/>
    </a:extraClrScheme>
    <a:extraClrScheme>
      <a:clrScheme name="template 7">
        <a:dk1>
          <a:srgbClr val="4D4D4D"/>
        </a:dk1>
        <a:lt1>
          <a:srgbClr val="FFFFFF"/>
        </a:lt1>
        <a:dk2>
          <a:srgbClr val="4D4D4D"/>
        </a:dk2>
        <a:lt2>
          <a:srgbClr val="003399"/>
        </a:lt2>
        <a:accent1>
          <a:srgbClr val="6699FF"/>
        </a:accent1>
        <a:accent2>
          <a:srgbClr val="3399FF"/>
        </a:accent2>
        <a:accent3>
          <a:srgbClr val="FFFFFF"/>
        </a:accent3>
        <a:accent4>
          <a:srgbClr val="404040"/>
        </a:accent4>
        <a:accent5>
          <a:srgbClr val="B8CAFF"/>
        </a:accent5>
        <a:accent6>
          <a:srgbClr val="2D8AE7"/>
        </a:accent6>
        <a:hlink>
          <a:srgbClr val="669900"/>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128</TotalTime>
  <Words>686</Words>
  <Application>Microsoft Office PowerPoint</Application>
  <PresentationFormat>On-screen Show (4:3)</PresentationFormat>
  <Paragraphs>64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Agency FB</vt:lpstr>
      <vt:lpstr>Amasis MT Pro Light</vt:lpstr>
      <vt:lpstr>Arial</vt:lpstr>
      <vt:lpstr>Baskerville Old Face</vt:lpstr>
      <vt:lpstr>Open Sans</vt:lpstr>
      <vt:lpstr>Roboto</vt:lpstr>
      <vt:lpstr>template</vt:lpstr>
      <vt:lpstr>Fiber Optics</vt:lpstr>
      <vt:lpstr>What are Fiber Optics?</vt:lpstr>
      <vt:lpstr>The Principle Behind Fiber Optics </vt:lpstr>
      <vt:lpstr>Structure of an Optical fiber</vt:lpstr>
      <vt:lpstr>Optical fiber consists of three sections </vt:lpstr>
      <vt:lpstr>TYPES OF OPTICAL FIBRES</vt:lpstr>
      <vt:lpstr>Single Mode Step Index fiber </vt:lpstr>
      <vt:lpstr>Multimode Step Index Fiber </vt:lpstr>
      <vt:lpstr>GRADED INDEX FIBRE </vt:lpstr>
      <vt:lpstr>Uses of Fiber Optic Cables</vt:lpstr>
      <vt:lpstr>Advantages of Optical Fiber   </vt:lpstr>
      <vt:lpstr>Disadvantages of Optical Fiber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Fiber Optics</dc:title>
  <dc:creator>01-136221-021</dc:creator>
  <cp:lastModifiedBy>01-136221-021</cp:lastModifiedBy>
  <cp:revision>1</cp:revision>
  <dcterms:created xsi:type="dcterms:W3CDTF">2023-01-04T12:53:45Z</dcterms:created>
  <dcterms:modified xsi:type="dcterms:W3CDTF">2023-01-04T15:02:12Z</dcterms:modified>
</cp:coreProperties>
</file>