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2"/>
  </p:notesMasterIdLst>
  <p:sldIdLst>
    <p:sldId id="256" r:id="rId2"/>
    <p:sldId id="257" r:id="rId3"/>
    <p:sldId id="261" r:id="rId4"/>
    <p:sldId id="263" r:id="rId5"/>
    <p:sldId id="262" r:id="rId6"/>
    <p:sldId id="265" r:id="rId7"/>
    <p:sldId id="258" r:id="rId8"/>
    <p:sldId id="266" r:id="rId9"/>
    <p:sldId id="260" r:id="rId10"/>
    <p:sldId id="264"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9A39"/>
    <a:srgbClr val="6C1A00"/>
    <a:srgbClr val="FE9202"/>
    <a:srgbClr val="1D3A00"/>
    <a:srgbClr val="007033"/>
    <a:srgbClr val="E7FF01"/>
    <a:srgbClr val="5EEC3C"/>
    <a:srgbClr val="990099"/>
    <a:srgbClr val="CC0099"/>
    <a:srgbClr val="00AA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40" y="40"/>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21T21:25:34.200"/>
    </inkml:context>
    <inkml:brush xml:id="br0">
      <inkml:brushProperty name="width" value="0.3" units="cm"/>
      <inkml:brushProperty name="height" value="0.6" units="cm"/>
      <inkml:brushProperty name="color" value="#FFFFE1"/>
      <inkml:brushProperty name="tip" value="rectangle"/>
      <inkml:brushProperty name="rasterOp" value="maskPen"/>
      <inkml:brushProperty name="ignorePressure" value="1"/>
    </inkml:brush>
  </inkml:definitions>
  <inkml:trace contextRef="#ctx0" brushRef="#br0">2566 257,'-37'-1,"24"0,0 1,-1 0,1 0,0 1,0 1,0 0,0 1,-23 8,23-6,0 0,-1-1,1 0,-1-1,0 0,-20 0,-87-3,55-2,-26-2,-128-24,86 9,28 4,0-4,-164-53,264 70,-122-36,105 32,-1 2,0 0,-38 1,-59 4,12 1,-177-19,234 10,0-3,-62-20,89 23,0 2,-1 0,1 2,-30 0,54 3,284 24,470 103,-661-110,-59-13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21T21:25:35.567"/>
    </inkml:context>
    <inkml:brush xml:id="br0">
      <inkml:brushProperty name="width" value="0.3" units="cm"/>
      <inkml:brushProperty name="height" value="0.6" units="cm"/>
      <inkml:brushProperty name="color" value="#FFFFE1"/>
      <inkml:brushProperty name="tip" value="rectangle"/>
      <inkml:brushProperty name="rasterOp" value="maskPen"/>
      <inkml:brushProperty name="ignorePressure" value="1"/>
    </inkml:brush>
  </inkml:definitions>
  <inkml:trace contextRef="#ctx0" brushRef="#br0">6209 183,'0'9,"1"6,-2-1,0 0,0 1,-5 18,5-29,0-1,0 1,-1-1,1 1,-1-1,0 0,0 1,0-1,0 0,0 0,-1-1,0 1,1 0,-1-1,0 0,0 1,0-1,0 0,-1-1,1 1,-1-1,-3 2,-7 1,-1-1,0-1,0 0,-19 0,-64-5,67 2,-323-34,85 6,77 27,184 1,-1-1,1 1,-12-5,-20-5,-114-3,135 13,-975-25,106 6,209-19,169 8,-1001-77,1246 79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21T21:25:37.628"/>
    </inkml:context>
    <inkml:brush xml:id="br0">
      <inkml:brushProperty name="width" value="0.3" units="cm"/>
      <inkml:brushProperty name="height" value="0.6" units="cm"/>
      <inkml:brushProperty name="color" value="#FFFFE1"/>
      <inkml:brushProperty name="tip" value="rectangle"/>
      <inkml:brushProperty name="rasterOp" value="maskPen"/>
      <inkml:brushProperty name="ignorePressure" value="1"/>
    </inkml:brush>
  </inkml:definitions>
  <inkml:trace contextRef="#ctx0" brushRef="#br0">1778 0,'-66'4,"1"2,-129 31,104-17,-12 0,0-5,-1-4,-1-4,-201-15,82-24,140 17,-1 3,-138 0,204 12,2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3/22/2023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9</a:t>
            </a:fld>
            <a:endParaRPr lang="en-US"/>
          </a:p>
        </p:txBody>
      </p:sp>
    </p:spTree>
    <p:extLst>
      <p:ext uri="{BB962C8B-B14F-4D97-AF65-F5344CB8AC3E}">
        <p14:creationId xmlns:p14="http://schemas.microsoft.com/office/powerpoint/2010/main" val="1284596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AF533E96-F078-4B3D-A8F4-F1AF21EBC357}" type="slidenum">
              <a:rPr lang="en-US" smtClean="0"/>
              <a:t>10</a:t>
            </a:fld>
            <a:endParaRPr lang="en-US"/>
          </a:p>
        </p:txBody>
      </p:sp>
    </p:spTree>
    <p:extLst>
      <p:ext uri="{BB962C8B-B14F-4D97-AF65-F5344CB8AC3E}">
        <p14:creationId xmlns:p14="http://schemas.microsoft.com/office/powerpoint/2010/main" val="19943235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6589" y="1808225"/>
            <a:ext cx="4733855" cy="1527050"/>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3503066" y="3793390"/>
            <a:ext cx="5497378" cy="763525"/>
          </a:xfrm>
        </p:spPr>
        <p:txBody>
          <a:bodyPr>
            <a:normAutofit/>
          </a:bodyPr>
          <a:lstStyle>
            <a:lvl1pPr marL="0" indent="0" algn="r">
              <a:buNone/>
              <a:defRPr sz="2800" b="0" i="0">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4375" y="281175"/>
            <a:ext cx="8246070" cy="763525"/>
          </a:xfrm>
        </p:spPr>
        <p:txBody>
          <a:bodyPr>
            <a:normAutofit/>
          </a:bodyPr>
          <a:lstStyle>
            <a:lvl1pPr algn="r">
              <a:defRPr sz="3600" baseline="0">
                <a:solidFill>
                  <a:schemeClr val="accent5"/>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502815"/>
            <a:ext cx="8246070" cy="3359510"/>
          </a:xfrm>
        </p:spPr>
        <p:txBody>
          <a:bodyPr/>
          <a:lstStyle>
            <a:lvl1pPr algn="l">
              <a:defRPr sz="2800">
                <a:solidFill>
                  <a:schemeClr val="accent1">
                    <a:lumMod val="50000"/>
                  </a:schemeClr>
                </a:solidFill>
              </a:defRPr>
            </a:lvl1pPr>
            <a:lvl2pPr algn="l">
              <a:defRPr>
                <a:solidFill>
                  <a:schemeClr val="accent1">
                    <a:lumMod val="50000"/>
                  </a:schemeClr>
                </a:solidFill>
              </a:defRPr>
            </a:lvl2pPr>
            <a:lvl3pPr algn="l">
              <a:defRPr>
                <a:solidFill>
                  <a:schemeClr val="accent1">
                    <a:lumMod val="50000"/>
                  </a:schemeClr>
                </a:solidFill>
              </a:defRPr>
            </a:lvl3pPr>
            <a:lvl4pPr algn="l">
              <a:defRPr>
                <a:solidFill>
                  <a:schemeClr val="accent1">
                    <a:lumMod val="50000"/>
                  </a:schemeClr>
                </a:solidFill>
              </a:defRPr>
            </a:lvl4pPr>
            <a:lvl5pPr algn="l">
              <a:defRPr>
                <a:solidFill>
                  <a:schemeClr val="accent1">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6260" y="281175"/>
            <a:ext cx="6566315" cy="725349"/>
          </a:xfrm>
          <a:noFill/>
        </p:spPr>
        <p:txBody>
          <a:bodyPr>
            <a:normAutofit/>
          </a:bodyPr>
          <a:lstStyle>
            <a:lvl1pPr algn="l">
              <a:defRPr sz="3600">
                <a:solidFill>
                  <a:schemeClr val="accent5"/>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96260" y="1197405"/>
            <a:ext cx="6566315" cy="3511061"/>
          </a:xfrm>
        </p:spPr>
        <p:txBody>
          <a:bodyPr/>
          <a:lstStyle>
            <a:lvl1pPr algn="l">
              <a:defRPr sz="2800">
                <a:solidFill>
                  <a:schemeClr val="accent5">
                    <a:lumMod val="40000"/>
                    <a:lumOff val="60000"/>
                  </a:schemeClr>
                </a:solidFill>
              </a:defRPr>
            </a:lvl1pPr>
            <a:lvl2pPr algn="l">
              <a:defRPr>
                <a:solidFill>
                  <a:schemeClr val="accent5">
                    <a:lumMod val="40000"/>
                    <a:lumOff val="60000"/>
                  </a:schemeClr>
                </a:solidFill>
              </a:defRPr>
            </a:lvl2pPr>
            <a:lvl3pPr algn="l">
              <a:defRPr>
                <a:solidFill>
                  <a:schemeClr val="accent5">
                    <a:lumMod val="40000"/>
                    <a:lumOff val="60000"/>
                  </a:schemeClr>
                </a:solidFill>
              </a:defRPr>
            </a:lvl3pPr>
            <a:lvl4pPr algn="l">
              <a:defRPr>
                <a:solidFill>
                  <a:schemeClr val="accent5">
                    <a:lumMod val="40000"/>
                    <a:lumOff val="60000"/>
                  </a:schemeClr>
                </a:solidFill>
              </a:defRPr>
            </a:lvl4pPr>
            <a:lvl5pPr algn="l">
              <a:defRPr>
                <a:solidFill>
                  <a:schemeClr val="accent5">
                    <a:lumMod val="40000"/>
                    <a:lumOff val="6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3/22/2023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4375" y="281175"/>
            <a:ext cx="8246070" cy="763525"/>
          </a:xfrm>
        </p:spPr>
        <p:txBody>
          <a:bodyPr>
            <a:normAutofit/>
          </a:bodyPr>
          <a:lstStyle>
            <a:lvl1pPr algn="r">
              <a:defRPr sz="3600" baseline="0">
                <a:solidFill>
                  <a:schemeClr val="accent5"/>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55520"/>
            <a:ext cx="4040188" cy="479822"/>
          </a:xfrm>
        </p:spPr>
        <p:txBody>
          <a:bodyPr anchor="b"/>
          <a:lstStyle>
            <a:lvl1pPr marL="0" indent="0" algn="ctr">
              <a:buNone/>
              <a:defRPr sz="2400" b="1">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27917"/>
            <a:ext cx="4040188" cy="2276294"/>
          </a:xfrm>
        </p:spPr>
        <p:txBody>
          <a:bodyPr/>
          <a:lstStyle>
            <a:lvl1pPr algn="ctr">
              <a:defRPr sz="2400">
                <a:solidFill>
                  <a:schemeClr val="tx2">
                    <a:lumMod val="75000"/>
                  </a:schemeClr>
                </a:solidFill>
              </a:defRPr>
            </a:lvl1pPr>
            <a:lvl2pPr algn="ctr">
              <a:defRPr sz="2000">
                <a:solidFill>
                  <a:schemeClr val="tx2">
                    <a:lumMod val="75000"/>
                  </a:schemeClr>
                </a:solidFill>
              </a:defRPr>
            </a:lvl2pPr>
            <a:lvl3pPr algn="ctr">
              <a:defRPr sz="1800">
                <a:solidFill>
                  <a:schemeClr val="tx2">
                    <a:lumMod val="75000"/>
                  </a:schemeClr>
                </a:solidFill>
              </a:defRPr>
            </a:lvl3pPr>
            <a:lvl4pPr algn="ctr">
              <a:defRPr sz="1600">
                <a:solidFill>
                  <a:schemeClr val="tx2">
                    <a:lumMod val="75000"/>
                  </a:schemeClr>
                </a:solidFill>
              </a:defRPr>
            </a:lvl4pPr>
            <a:lvl5pPr algn="ct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79822"/>
          </a:xfrm>
        </p:spPr>
        <p:txBody>
          <a:bodyPr anchor="b"/>
          <a:lstStyle>
            <a:lvl1pPr marL="0" indent="0" algn="ctr">
              <a:buNone/>
              <a:defRPr sz="2400" b="1">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7"/>
            <a:ext cx="4041775" cy="2276294"/>
          </a:xfrm>
        </p:spPr>
        <p:txBody>
          <a:bodyPr/>
          <a:lstStyle>
            <a:lvl1pPr algn="ctr">
              <a:defRPr sz="2400">
                <a:solidFill>
                  <a:schemeClr val="tx2">
                    <a:lumMod val="75000"/>
                  </a:schemeClr>
                </a:solidFill>
              </a:defRPr>
            </a:lvl1pPr>
            <a:lvl2pPr algn="ctr">
              <a:defRPr sz="2000">
                <a:solidFill>
                  <a:schemeClr val="tx2">
                    <a:lumMod val="75000"/>
                  </a:schemeClr>
                </a:solidFill>
              </a:defRPr>
            </a:lvl2pPr>
            <a:lvl3pPr algn="ctr">
              <a:defRPr sz="1800">
                <a:solidFill>
                  <a:schemeClr val="tx2">
                    <a:lumMod val="75000"/>
                  </a:schemeClr>
                </a:solidFill>
              </a:defRPr>
            </a:lvl3pPr>
            <a:lvl4pPr algn="ctr">
              <a:defRPr sz="1600">
                <a:solidFill>
                  <a:schemeClr val="tx2">
                    <a:lumMod val="75000"/>
                  </a:schemeClr>
                </a:solidFill>
              </a:defRPr>
            </a:lvl4pPr>
            <a:lvl5pPr algn="ct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3/22/2023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3/22/2023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3/22/2023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customXml" Target="../ink/ink1.xml"/><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5770" y="1960930"/>
            <a:ext cx="5191970" cy="1527050"/>
          </a:xfrm>
        </p:spPr>
        <p:txBody>
          <a:bodyPr>
            <a:normAutofit/>
          </a:bodyPr>
          <a:lstStyle/>
          <a:p>
            <a:r>
              <a:rPr lang="en-US" sz="2800" b="1" dirty="0"/>
              <a:t>“Difference between Informed and Uninformed Search in AI”</a:t>
            </a:r>
            <a:br>
              <a:rPr lang="en-US" sz="2800" b="1" dirty="0"/>
            </a:br>
            <a:endParaRPr lang="en-US" sz="2800" b="1" dirty="0"/>
          </a:p>
        </p:txBody>
      </p:sp>
      <p:sp>
        <p:nvSpPr>
          <p:cNvPr id="5" name="TextBox 4">
            <a:extLst>
              <a:ext uri="{FF2B5EF4-FFF2-40B4-BE49-F238E27FC236}">
                <a16:creationId xmlns:a16="http://schemas.microsoft.com/office/drawing/2014/main" id="{FE8BDB2B-4910-88E0-6C9E-0820C0D5A28E}"/>
              </a:ext>
            </a:extLst>
          </p:cNvPr>
          <p:cNvSpPr txBox="1"/>
          <p:nvPr/>
        </p:nvSpPr>
        <p:spPr>
          <a:xfrm>
            <a:off x="4266590" y="4098800"/>
            <a:ext cx="4581150" cy="707886"/>
          </a:xfrm>
          <a:prstGeom prst="rect">
            <a:avLst/>
          </a:prstGeom>
          <a:noFill/>
        </p:spPr>
        <p:txBody>
          <a:bodyPr wrap="square" rtlCol="0">
            <a:spAutoFit/>
          </a:bodyPr>
          <a:lstStyle/>
          <a:p>
            <a:pPr algn="ctr"/>
            <a:r>
              <a:rPr lang="en-US" sz="2000" b="1" dirty="0">
                <a:solidFill>
                  <a:schemeClr val="bg1"/>
                </a:solidFill>
                <a:latin typeface="+mj-lt"/>
              </a:rPr>
              <a:t>Muhammad Taqui</a:t>
            </a:r>
          </a:p>
          <a:p>
            <a:pPr algn="ctr"/>
            <a:r>
              <a:rPr lang="en-US" sz="2000" b="1" dirty="0">
                <a:solidFill>
                  <a:schemeClr val="bg1"/>
                </a:solidFill>
                <a:latin typeface="+mj-lt"/>
              </a:rPr>
              <a:t>01-136221-021</a:t>
            </a:r>
            <a:endParaRPr lang="en-AE" sz="2000" b="1" dirty="0">
              <a:solidFill>
                <a:schemeClr val="bg1"/>
              </a:solidFill>
              <a:latin typeface="+mj-lt"/>
            </a:endParaRP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3884" y="281175"/>
            <a:ext cx="2137871" cy="763525"/>
          </a:xfrm>
        </p:spPr>
        <p:txBody>
          <a:bodyPr>
            <a:normAutofit/>
          </a:bodyPr>
          <a:lstStyle/>
          <a:p>
            <a:r>
              <a:rPr lang="en-US" b="1" i="0" dirty="0">
                <a:effectLst/>
                <a:latin typeface="Agency FB" panose="020B0503020202020204" pitchFamily="34" charset="0"/>
              </a:rPr>
              <a:t>Introduction</a:t>
            </a:r>
            <a:endParaRPr lang="en-US" b="1" dirty="0">
              <a:latin typeface="Agency FB" panose="020B0503020202020204" pitchFamily="34" charset="0"/>
            </a:endParaRPr>
          </a:p>
        </p:txBody>
      </p:sp>
      <p:sp>
        <p:nvSpPr>
          <p:cNvPr id="3" name="Content Placeholder 2"/>
          <p:cNvSpPr>
            <a:spLocks noGrp="1"/>
          </p:cNvSpPr>
          <p:nvPr>
            <p:ph idx="1"/>
          </p:nvPr>
        </p:nvSpPr>
        <p:spPr>
          <a:xfrm>
            <a:off x="143555" y="1502815"/>
            <a:ext cx="8856890" cy="3512215"/>
          </a:xfrm>
        </p:spPr>
        <p:txBody>
          <a:bodyPr>
            <a:normAutofit/>
          </a:bodyPr>
          <a:lstStyle/>
          <a:p>
            <a:pPr marL="0" indent="0">
              <a:buNone/>
            </a:pPr>
            <a:r>
              <a:rPr lang="en-US" sz="2000" b="0" i="0" dirty="0">
                <a:solidFill>
                  <a:srgbClr val="374151"/>
                </a:solidFill>
                <a:effectLst/>
                <a:latin typeface="Arabic Typesetting" panose="03020402040406030203" pitchFamily="66" charset="-78"/>
                <a:cs typeface="Arabic Typesetting" panose="03020402040406030203" pitchFamily="66" charset="-78"/>
              </a:rPr>
              <a:t>Search algorithms are an essential part of problem-solving in Artificial Intelligence. They enable machines to explore a problem space and find optimal solutions to complex problems. </a:t>
            </a:r>
          </a:p>
          <a:p>
            <a:pPr marL="0" indent="0">
              <a:buNone/>
            </a:pPr>
            <a:r>
              <a:rPr lang="en-US" sz="2000" b="0" i="0" dirty="0">
                <a:solidFill>
                  <a:srgbClr val="374151"/>
                </a:solidFill>
                <a:effectLst/>
                <a:latin typeface="Arabic Typesetting" panose="03020402040406030203" pitchFamily="66" charset="-78"/>
                <a:cs typeface="Arabic Typesetting" panose="03020402040406030203" pitchFamily="66" charset="-78"/>
              </a:rPr>
              <a:t>Search algorithms can be classified into two categories:</a:t>
            </a:r>
          </a:p>
          <a:p>
            <a:r>
              <a:rPr lang="en-US" sz="2000" b="0" i="0" dirty="0">
                <a:solidFill>
                  <a:srgbClr val="374151"/>
                </a:solidFill>
                <a:effectLst/>
                <a:latin typeface="Arabic Typesetting" panose="03020402040406030203" pitchFamily="66" charset="-78"/>
                <a:cs typeface="Arabic Typesetting" panose="03020402040406030203" pitchFamily="66" charset="-78"/>
              </a:rPr>
              <a:t>Uninformed search </a:t>
            </a:r>
          </a:p>
          <a:p>
            <a:r>
              <a:rPr lang="en-US" sz="2000" dirty="0">
                <a:solidFill>
                  <a:srgbClr val="374151"/>
                </a:solidFill>
                <a:latin typeface="Arabic Typesetting" panose="03020402040406030203" pitchFamily="66" charset="-78"/>
                <a:cs typeface="Arabic Typesetting" panose="03020402040406030203" pitchFamily="66" charset="-78"/>
              </a:rPr>
              <a:t>I</a:t>
            </a:r>
            <a:r>
              <a:rPr lang="en-US" sz="2000" b="0" i="0" dirty="0">
                <a:solidFill>
                  <a:srgbClr val="374151"/>
                </a:solidFill>
                <a:effectLst/>
                <a:latin typeface="Arabic Typesetting" panose="03020402040406030203" pitchFamily="66" charset="-78"/>
                <a:cs typeface="Arabic Typesetting" panose="03020402040406030203" pitchFamily="66" charset="-78"/>
              </a:rPr>
              <a:t>nformed search</a:t>
            </a:r>
          </a:p>
          <a:p>
            <a:pPr marL="0" indent="0">
              <a:buNone/>
            </a:pPr>
            <a:r>
              <a:rPr lang="en-US" sz="2000" b="0" i="0" dirty="0">
                <a:solidFill>
                  <a:srgbClr val="374151"/>
                </a:solidFill>
                <a:effectLst/>
                <a:latin typeface="Arabic Typesetting" panose="03020402040406030203" pitchFamily="66" charset="-78"/>
                <a:cs typeface="Arabic Typesetting" panose="03020402040406030203" pitchFamily="66" charset="-78"/>
              </a:rPr>
              <a:t>Understanding the difference between these two types of search algorithms is crucial for developing efficient and effective AI systems. Search algorithms are used in various real-world applications, such as route planning, game playing, and natural language processing. </a:t>
            </a:r>
            <a:endParaRPr lang="en-US" sz="2000" dirty="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26A4-C1B5-17BE-5108-6774B1C09AEC}"/>
              </a:ext>
            </a:extLst>
          </p:cNvPr>
          <p:cNvSpPr>
            <a:spLocks noGrp="1"/>
          </p:cNvSpPr>
          <p:nvPr>
            <p:ph type="title"/>
          </p:nvPr>
        </p:nvSpPr>
        <p:spPr>
          <a:xfrm>
            <a:off x="3197655" y="281175"/>
            <a:ext cx="4123035" cy="763525"/>
          </a:xfrm>
        </p:spPr>
        <p:txBody>
          <a:bodyPr/>
          <a:lstStyle/>
          <a:p>
            <a:r>
              <a:rPr lang="en-US" b="1">
                <a:latin typeface="Agency FB" panose="020B0503020202020204" pitchFamily="34" charset="0"/>
              </a:rPr>
              <a:t>Uninformed Search</a:t>
            </a:r>
            <a:endParaRPr lang="en-AE"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1F25B5CD-7641-85D5-B75D-C05F87C368D6}"/>
              </a:ext>
            </a:extLst>
          </p:cNvPr>
          <p:cNvSpPr>
            <a:spLocks noGrp="1"/>
          </p:cNvSpPr>
          <p:nvPr>
            <p:ph idx="1"/>
          </p:nvPr>
        </p:nvSpPr>
        <p:spPr>
          <a:xfrm>
            <a:off x="448966" y="1655521"/>
            <a:ext cx="8246070" cy="2748690"/>
          </a:xfrm>
        </p:spPr>
        <p:txBody>
          <a:bodyPr>
            <a:noAutofit/>
          </a:bodyPr>
          <a:lstStyle/>
          <a:p>
            <a:pPr marL="0" indent="0">
              <a:buNone/>
            </a:pPr>
            <a:r>
              <a:rPr lang="en-US" b="0" i="0" dirty="0">
                <a:solidFill>
                  <a:srgbClr val="374151"/>
                </a:solidFill>
                <a:effectLst/>
                <a:latin typeface="Arabic Typesetting" panose="03020402040406030203" pitchFamily="66" charset="-78"/>
                <a:cs typeface="Arabic Typesetting" panose="03020402040406030203" pitchFamily="66" charset="-78"/>
              </a:rPr>
              <a:t>Uninformed search, also known as blind search, is a type of search algorithm that does not use any additional information about the problem to guide its search. Uninformed search algorithms explore the problem space in a systematic way, checking each possible path one by one until a solution is found. These algorithms have no knowledge of the structure of the problem space and do not make any assumptions about the location of the goal.</a:t>
            </a:r>
            <a:endParaRPr lang="en-AE" dirty="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3320776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96B3-316D-C611-CC5C-5780EACEECFE}"/>
              </a:ext>
            </a:extLst>
          </p:cNvPr>
          <p:cNvSpPr>
            <a:spLocks noGrp="1"/>
          </p:cNvSpPr>
          <p:nvPr>
            <p:ph type="title"/>
          </p:nvPr>
        </p:nvSpPr>
        <p:spPr>
          <a:xfrm>
            <a:off x="3961180" y="281175"/>
            <a:ext cx="2137870" cy="763525"/>
          </a:xfrm>
        </p:spPr>
        <p:txBody>
          <a:bodyPr/>
          <a:lstStyle/>
          <a:p>
            <a:pPr algn="l"/>
            <a:r>
              <a:rPr lang="en-US" b="1" dirty="0">
                <a:latin typeface="Agency FB" panose="020B0503020202020204" pitchFamily="34" charset="0"/>
              </a:rPr>
              <a:t>Examples</a:t>
            </a:r>
            <a:endParaRPr lang="en-AE"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54197E48-B68F-B449-AC3D-A98FD478892F}"/>
              </a:ext>
            </a:extLst>
          </p:cNvPr>
          <p:cNvSpPr>
            <a:spLocks noGrp="1"/>
          </p:cNvSpPr>
          <p:nvPr>
            <p:ph idx="1"/>
          </p:nvPr>
        </p:nvSpPr>
        <p:spPr>
          <a:xfrm>
            <a:off x="143556" y="1197405"/>
            <a:ext cx="8856890" cy="3817625"/>
          </a:xfrm>
        </p:spPr>
        <p:txBody>
          <a:bodyPr>
            <a:normAutofit/>
          </a:bodyPr>
          <a:lstStyle/>
          <a:p>
            <a:pPr marL="0" indent="0">
              <a:buNone/>
            </a:pPr>
            <a:r>
              <a:rPr lang="en-US" sz="2400" dirty="0">
                <a:latin typeface="Arabic Typesetting" panose="03020402040406030203" pitchFamily="66" charset="-78"/>
                <a:cs typeface="Arabic Typesetting" panose="03020402040406030203" pitchFamily="66" charset="-78"/>
              </a:rPr>
              <a:t> let’s say that we’re solving an 8-puzzle. It’s a 3x3 times grid containing numbers 1 to 8 and an empty cell that we can swap with an adjacent number. </a:t>
            </a:r>
          </a:p>
          <a:p>
            <a:pPr marL="0" indent="0">
              <a:buNone/>
            </a:pPr>
            <a:r>
              <a:rPr lang="en-US" sz="2400" dirty="0">
                <a:latin typeface="Arabic Typesetting" panose="03020402040406030203" pitchFamily="66" charset="-78"/>
                <a:cs typeface="Arabic Typesetting" panose="03020402040406030203" pitchFamily="66" charset="-78"/>
              </a:rPr>
              <a:t>Let’s say that this is the goal state:</a:t>
            </a:r>
          </a:p>
          <a:p>
            <a:pPr marL="0" indent="0">
              <a:buNone/>
            </a:pPr>
            <a:endParaRPr lang="en-US" sz="2400" dirty="0">
              <a:latin typeface="Arabic Typesetting" panose="03020402040406030203" pitchFamily="66" charset="-78"/>
              <a:cs typeface="Arabic Typesetting" panose="03020402040406030203" pitchFamily="66" charset="-78"/>
            </a:endParaRPr>
          </a:p>
          <a:p>
            <a:pPr marL="0" indent="0">
              <a:buNone/>
            </a:pPr>
            <a:r>
              <a:rPr lang="en-US" sz="2400" dirty="0">
                <a:latin typeface="Arabic Typesetting" panose="03020402040406030203" pitchFamily="66" charset="-78"/>
                <a:cs typeface="Arabic Typesetting" panose="03020402040406030203" pitchFamily="66" charset="-78"/>
              </a:rPr>
              <a:t>Since the uninformed strategies can only apply the goal test and can’t inspect the grid, they would find no difference between the following two states:</a:t>
            </a:r>
            <a:endParaRPr lang="en-AE" sz="2400" dirty="0">
              <a:latin typeface="Arabic Typesetting" panose="03020402040406030203" pitchFamily="66" charset="-78"/>
              <a:cs typeface="Arabic Typesetting" panose="03020402040406030203" pitchFamily="66" charset="-78"/>
            </a:endParaRPr>
          </a:p>
        </p:txBody>
      </p:sp>
      <p:sp>
        <p:nvSpPr>
          <p:cNvPr id="11" name="AutoShape 9" descr="\[\begin{bmatrix} 1 &amp; 2 &amp; 3 \\ 4 &amp;  &amp; 5 \\ 6 &amp; 7 &amp; 8 \\ \end{bmatrix}\]">
            <a:extLst>
              <a:ext uri="{FF2B5EF4-FFF2-40B4-BE49-F238E27FC236}">
                <a16:creationId xmlns:a16="http://schemas.microsoft.com/office/drawing/2014/main" id="{AC98675A-EDD3-17A9-4CB1-A008D77AED0C}"/>
              </a:ext>
            </a:extLst>
          </p:cNvPr>
          <p:cNvSpPr>
            <a:spLocks noChangeAspect="1" noChangeArrowheads="1"/>
          </p:cNvSpPr>
          <p:nvPr/>
        </p:nvSpPr>
        <p:spPr bwMode="auto">
          <a:xfrm>
            <a:off x="4233863" y="2266340"/>
            <a:ext cx="676275" cy="9162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E"/>
          </a:p>
        </p:txBody>
      </p:sp>
      <p:pic>
        <p:nvPicPr>
          <p:cNvPr id="13" name="Picture 12">
            <a:extLst>
              <a:ext uri="{FF2B5EF4-FFF2-40B4-BE49-F238E27FC236}">
                <a16:creationId xmlns:a16="http://schemas.microsoft.com/office/drawing/2014/main" id="{35F9AA7A-279F-0408-72F3-3F921ECCDCD3}"/>
              </a:ext>
            </a:extLst>
          </p:cNvPr>
          <p:cNvPicPr>
            <a:picLocks noChangeAspect="1"/>
          </p:cNvPicPr>
          <p:nvPr/>
        </p:nvPicPr>
        <p:blipFill rotWithShape="1">
          <a:blip r:embed="rId2"/>
          <a:srcRect l="32749" t="38124" r="48881" b="32187"/>
          <a:stretch/>
        </p:blipFill>
        <p:spPr>
          <a:xfrm>
            <a:off x="3352705" y="2113635"/>
            <a:ext cx="834223" cy="758384"/>
          </a:xfrm>
          <a:prstGeom prst="rect">
            <a:avLst/>
          </a:prstGeom>
        </p:spPr>
      </p:pic>
      <p:pic>
        <p:nvPicPr>
          <p:cNvPr id="15" name="Picture 14">
            <a:extLst>
              <a:ext uri="{FF2B5EF4-FFF2-40B4-BE49-F238E27FC236}">
                <a16:creationId xmlns:a16="http://schemas.microsoft.com/office/drawing/2014/main" id="{933A91AF-531F-76CD-AE2B-5800183F8D97}"/>
              </a:ext>
            </a:extLst>
          </p:cNvPr>
          <p:cNvPicPr>
            <a:picLocks noChangeAspect="1"/>
          </p:cNvPicPr>
          <p:nvPr/>
        </p:nvPicPr>
        <p:blipFill rotWithShape="1">
          <a:blip r:embed="rId3"/>
          <a:srcRect l="21610" t="52969" r="51670" b="35155"/>
          <a:stretch/>
        </p:blipFill>
        <p:spPr>
          <a:xfrm>
            <a:off x="2739539" y="3810707"/>
            <a:ext cx="2595985" cy="1051618"/>
          </a:xfrm>
          <a:prstGeom prst="rect">
            <a:avLst/>
          </a:prstGeom>
        </p:spPr>
      </p:pic>
    </p:spTree>
    <p:extLst>
      <p:ext uri="{BB962C8B-B14F-4D97-AF65-F5344CB8AC3E}">
        <p14:creationId xmlns:p14="http://schemas.microsoft.com/office/powerpoint/2010/main" val="158535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781BB-EBCF-9B8E-2583-63893D685BF9}"/>
              </a:ext>
            </a:extLst>
          </p:cNvPr>
          <p:cNvSpPr>
            <a:spLocks noGrp="1"/>
          </p:cNvSpPr>
          <p:nvPr>
            <p:ph type="title"/>
          </p:nvPr>
        </p:nvSpPr>
        <p:spPr>
          <a:xfrm>
            <a:off x="296260" y="281175"/>
            <a:ext cx="6566315" cy="725349"/>
          </a:xfrm>
        </p:spPr>
        <p:txBody>
          <a:bodyPr anchor="ctr">
            <a:normAutofit/>
          </a:bodyPr>
          <a:lstStyle/>
          <a:p>
            <a:pPr>
              <a:lnSpc>
                <a:spcPct val="90000"/>
              </a:lnSpc>
            </a:pPr>
            <a:r>
              <a:rPr lang="en-US" sz="2300" b="1" i="0">
                <a:effectLst/>
              </a:rPr>
              <a:t>Uninformed Search</a:t>
            </a:r>
            <a:br>
              <a:rPr lang="en-US" sz="2300" b="1" i="0">
                <a:effectLst/>
              </a:rPr>
            </a:br>
            <a:endParaRPr lang="en-AE" sz="2300" b="1"/>
          </a:p>
        </p:txBody>
      </p:sp>
      <p:sp>
        <p:nvSpPr>
          <p:cNvPr id="3" name="Content Placeholder 2">
            <a:extLst>
              <a:ext uri="{FF2B5EF4-FFF2-40B4-BE49-F238E27FC236}">
                <a16:creationId xmlns:a16="http://schemas.microsoft.com/office/drawing/2014/main" id="{ADDA9937-6EC6-A685-BEED-812D083BEBC8}"/>
              </a:ext>
            </a:extLst>
          </p:cNvPr>
          <p:cNvSpPr>
            <a:spLocks noGrp="1"/>
          </p:cNvSpPr>
          <p:nvPr>
            <p:ph idx="1"/>
          </p:nvPr>
        </p:nvSpPr>
        <p:spPr>
          <a:xfrm>
            <a:off x="296260" y="1197405"/>
            <a:ext cx="6566315" cy="3511061"/>
          </a:xfrm>
        </p:spPr>
        <p:txBody>
          <a:bodyPr>
            <a:normAutofit/>
          </a:bodyPr>
          <a:lstStyle/>
          <a:p>
            <a:pPr marL="0" indent="0">
              <a:lnSpc>
                <a:spcPct val="90000"/>
              </a:lnSpc>
              <a:buNone/>
            </a:pPr>
            <a:r>
              <a:rPr lang="en-US" sz="2600" b="0" i="0" dirty="0">
                <a:effectLst/>
                <a:latin typeface="Arabic Typesetting" panose="03020402040406030203" pitchFamily="66" charset="-78"/>
                <a:cs typeface="Arabic Typesetting" panose="03020402040406030203" pitchFamily="66" charset="-78"/>
              </a:rPr>
              <a:t>Uninformed search algorithms can be very inefficient when searching large problem spaces as they have no way to prioritize certain paths over others. They may waste time exploring paths that are unlikely to lead to a solution. However, uninformed search algorithms are useful in some situations, such as when the problem space is small, and the goal state is easy to find.</a:t>
            </a:r>
          </a:p>
        </p:txBody>
      </p:sp>
    </p:spTree>
    <p:extLst>
      <p:ext uri="{BB962C8B-B14F-4D97-AF65-F5344CB8AC3E}">
        <p14:creationId xmlns:p14="http://schemas.microsoft.com/office/powerpoint/2010/main" val="266781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B278C23-C232-6AD6-F266-8283C57E716B}"/>
              </a:ext>
            </a:extLst>
          </p:cNvPr>
          <p:cNvSpPr>
            <a:spLocks noGrp="1"/>
          </p:cNvSpPr>
          <p:nvPr>
            <p:ph idx="1"/>
          </p:nvPr>
        </p:nvSpPr>
        <p:spPr>
          <a:xfrm>
            <a:off x="7167985" y="1502816"/>
            <a:ext cx="1068935" cy="523220"/>
          </a:xfrm>
        </p:spPr>
        <p:txBody>
          <a:bodyPr>
            <a:normAutofit fontScale="70000" lnSpcReduction="20000"/>
          </a:bodyPr>
          <a:lstStyle/>
          <a:p>
            <a:pPr marL="0" indent="0">
              <a:buNone/>
            </a:pPr>
            <a:r>
              <a:rPr lang="en-US" sz="2000" dirty="0"/>
              <a:t>BFS=Queue</a:t>
            </a:r>
          </a:p>
          <a:p>
            <a:pPr marL="0" indent="0">
              <a:buNone/>
            </a:pPr>
            <a:r>
              <a:rPr lang="en-US" sz="2000" dirty="0"/>
              <a:t>DFS=Stacks</a:t>
            </a:r>
            <a:endParaRPr lang="en-AE" sz="2000" dirty="0"/>
          </a:p>
          <a:p>
            <a:pPr marL="0" indent="0">
              <a:buNone/>
            </a:pPr>
            <a:endParaRPr lang="en-AE" dirty="0"/>
          </a:p>
        </p:txBody>
      </p:sp>
      <p:pic>
        <p:nvPicPr>
          <p:cNvPr id="2052" name="Picture 4" descr="Difference between Depth First Search and Breadth First Search - DEV ...">
            <a:extLst>
              <a:ext uri="{FF2B5EF4-FFF2-40B4-BE49-F238E27FC236}">
                <a16:creationId xmlns:a16="http://schemas.microsoft.com/office/drawing/2014/main" id="{213DF61B-0116-183F-0E22-383101D85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76" y="1502815"/>
            <a:ext cx="6108199" cy="35122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B64D3E4-CE29-E17E-9A63-3863382E6C00}"/>
              </a:ext>
            </a:extLst>
          </p:cNvPr>
          <p:cNvSpPr txBox="1"/>
          <p:nvPr/>
        </p:nvSpPr>
        <p:spPr>
          <a:xfrm>
            <a:off x="3808475" y="433880"/>
            <a:ext cx="1985166" cy="646331"/>
          </a:xfrm>
          <a:prstGeom prst="rect">
            <a:avLst/>
          </a:prstGeom>
          <a:noFill/>
        </p:spPr>
        <p:txBody>
          <a:bodyPr wrap="square" rtlCol="0">
            <a:spAutoFit/>
          </a:bodyPr>
          <a:lstStyle/>
          <a:p>
            <a:r>
              <a:rPr lang="en-US" sz="3600" b="1" dirty="0">
                <a:solidFill>
                  <a:schemeClr val="accent5"/>
                </a:solidFill>
                <a:latin typeface="Agency FB" panose="020B0503020202020204" pitchFamily="34" charset="0"/>
              </a:rPr>
              <a:t>BFS &amp; DFS</a:t>
            </a:r>
            <a:endParaRPr lang="en-AE" sz="3600" b="1" dirty="0">
              <a:solidFill>
                <a:schemeClr val="accent5"/>
              </a:solidFill>
              <a:latin typeface="Agency FB" panose="020B0503020202020204" pitchFamily="34" charset="0"/>
            </a:endParaRPr>
          </a:p>
        </p:txBody>
      </p:sp>
    </p:spTree>
    <p:extLst>
      <p:ext uri="{BB962C8B-B14F-4D97-AF65-F5344CB8AC3E}">
        <p14:creationId xmlns:p14="http://schemas.microsoft.com/office/powerpoint/2010/main" val="3414549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61181" y="281175"/>
            <a:ext cx="3054100" cy="763525"/>
          </a:xfrm>
        </p:spPr>
        <p:txBody>
          <a:bodyPr>
            <a:normAutofit/>
          </a:bodyPr>
          <a:lstStyle/>
          <a:p>
            <a:pPr algn="ctr"/>
            <a:r>
              <a:rPr lang="en-US" b="1" dirty="0">
                <a:latin typeface="Agency FB" panose="020B0503020202020204" pitchFamily="34" charset="0"/>
              </a:rPr>
              <a:t>Informed Search</a:t>
            </a:r>
          </a:p>
        </p:txBody>
      </p:sp>
      <p:sp>
        <p:nvSpPr>
          <p:cNvPr id="6" name="Content Placeholder 5"/>
          <p:cNvSpPr>
            <a:spLocks noGrp="1"/>
          </p:cNvSpPr>
          <p:nvPr>
            <p:ph idx="1"/>
          </p:nvPr>
        </p:nvSpPr>
        <p:spPr>
          <a:xfrm>
            <a:off x="448966" y="1808225"/>
            <a:ext cx="8246070" cy="3054100"/>
          </a:xfrm>
        </p:spPr>
        <p:txBody>
          <a:bodyPr>
            <a:noAutofit/>
          </a:bodyPr>
          <a:lstStyle/>
          <a:p>
            <a:pPr marL="0" indent="0" algn="l">
              <a:buNone/>
            </a:pPr>
            <a:r>
              <a:rPr lang="en-US" b="0" i="0" dirty="0">
                <a:solidFill>
                  <a:srgbClr val="374151"/>
                </a:solidFill>
                <a:effectLst/>
                <a:latin typeface="Arabic Typesetting" panose="03020402040406030203" pitchFamily="66" charset="-78"/>
                <a:cs typeface="Arabic Typesetting" panose="03020402040406030203" pitchFamily="66" charset="-78"/>
              </a:rPr>
              <a:t>Informed search, also known as heuristic search, is a type of search algorithm that uses additional information about the problem to guide its search. Informed search algorithms make more informed decisions about which paths to explore by using a heuristic function that estimates the cost of reaching the goal from a given state.</a:t>
            </a:r>
          </a:p>
        </p:txBody>
      </p:sp>
    </p:spTree>
    <p:extLst>
      <p:ext uri="{BB962C8B-B14F-4D97-AF65-F5344CB8AC3E}">
        <p14:creationId xmlns:p14="http://schemas.microsoft.com/office/powerpoint/2010/main" val="417078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71D1-CBF9-DA82-0B9C-A39EC5622132}"/>
              </a:ext>
            </a:extLst>
          </p:cNvPr>
          <p:cNvSpPr>
            <a:spLocks noGrp="1"/>
          </p:cNvSpPr>
          <p:nvPr>
            <p:ph type="title"/>
          </p:nvPr>
        </p:nvSpPr>
        <p:spPr>
          <a:xfrm>
            <a:off x="3350360" y="281175"/>
            <a:ext cx="3054100" cy="763525"/>
          </a:xfrm>
        </p:spPr>
        <p:txBody>
          <a:bodyPr/>
          <a:lstStyle/>
          <a:p>
            <a:pPr algn="l"/>
            <a:r>
              <a:rPr lang="en-US" b="1" dirty="0">
                <a:effectLst/>
                <a:latin typeface="Agency FB" panose="020B0503020202020204" pitchFamily="34" charset="0"/>
                <a:cs typeface="Arabic Typesetting" panose="03020402040406030203" pitchFamily="66" charset="-78"/>
              </a:rPr>
              <a:t>H</a:t>
            </a:r>
            <a:r>
              <a:rPr lang="en-US" b="1" i="0" dirty="0">
                <a:effectLst/>
                <a:latin typeface="Agency FB" panose="020B0503020202020204" pitchFamily="34" charset="0"/>
                <a:cs typeface="Arabic Typesetting" panose="03020402040406030203" pitchFamily="66" charset="-78"/>
              </a:rPr>
              <a:t>euristic Function</a:t>
            </a:r>
            <a:endParaRPr lang="en-AE"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D94032EB-5661-5716-F1C0-15A7EF1E3CD5}"/>
              </a:ext>
            </a:extLst>
          </p:cNvPr>
          <p:cNvSpPr>
            <a:spLocks noGrp="1"/>
          </p:cNvSpPr>
          <p:nvPr>
            <p:ph idx="1"/>
          </p:nvPr>
        </p:nvSpPr>
        <p:spPr>
          <a:xfrm>
            <a:off x="143555" y="1502814"/>
            <a:ext cx="8551481" cy="3512215"/>
          </a:xfrm>
        </p:spPr>
        <p:txBody>
          <a:bodyPr>
            <a:normAutofit/>
          </a:bodyPr>
          <a:lstStyle/>
          <a:p>
            <a:pPr marL="0" indent="0">
              <a:buNone/>
            </a:pPr>
            <a:r>
              <a:rPr lang="en-US" sz="2400" b="0" i="0" dirty="0">
                <a:solidFill>
                  <a:srgbClr val="333333"/>
                </a:solidFill>
                <a:effectLst/>
                <a:latin typeface="Arabic Typesetting" panose="03020402040406030203" pitchFamily="66" charset="-78"/>
                <a:cs typeface="Arabic Typesetting" panose="03020402040406030203" pitchFamily="66" charset="-78"/>
              </a:rPr>
              <a:t>Heuristic is a function that is used in Informed Search, and it finds the most promising path. It takes the current state of the agent as its input and produces the estimation of how close the agent is to the goal. </a:t>
            </a:r>
          </a:p>
          <a:p>
            <a:pPr marL="0" indent="0">
              <a:buNone/>
            </a:pPr>
            <a:endParaRPr lang="en-US" sz="2400" dirty="0">
              <a:solidFill>
                <a:srgbClr val="333333"/>
              </a:solidFill>
              <a:latin typeface="Arabic Typesetting" panose="03020402040406030203" pitchFamily="66" charset="-78"/>
              <a:cs typeface="Arabic Typesetting" panose="03020402040406030203" pitchFamily="66" charset="-78"/>
            </a:endParaRPr>
          </a:p>
          <a:p>
            <a:pPr marL="0" indent="0">
              <a:buNone/>
            </a:pPr>
            <a:endParaRPr lang="en-US" sz="2400" dirty="0">
              <a:solidFill>
                <a:srgbClr val="333333"/>
              </a:solidFill>
              <a:latin typeface="Arabic Typesetting" panose="03020402040406030203" pitchFamily="66" charset="-78"/>
              <a:cs typeface="Arabic Typesetting" panose="03020402040406030203" pitchFamily="66" charset="-78"/>
            </a:endParaRPr>
          </a:p>
          <a:p>
            <a:pPr marL="0" indent="0">
              <a:buNone/>
            </a:pPr>
            <a:endParaRPr lang="en-US" sz="2400" dirty="0">
              <a:solidFill>
                <a:srgbClr val="333333"/>
              </a:solidFill>
              <a:latin typeface="Arabic Typesetting" panose="03020402040406030203" pitchFamily="66" charset="-78"/>
              <a:cs typeface="Arabic Typesetting" panose="03020402040406030203" pitchFamily="66" charset="-78"/>
            </a:endParaRPr>
          </a:p>
          <a:p>
            <a:pPr marL="0" indent="0">
              <a:buNone/>
            </a:pPr>
            <a:r>
              <a:rPr lang="en-US" sz="2400" dirty="0">
                <a:latin typeface="Arabic Typesetting" panose="03020402040406030203" pitchFamily="66" charset="-78"/>
                <a:cs typeface="Arabic Typesetting" panose="03020402040406030203" pitchFamily="66" charset="-78"/>
              </a:rPr>
              <a:t>           Euclidean distance                                                  Quick but not optimal</a:t>
            </a:r>
            <a:endParaRPr lang="en-AE" sz="2400" dirty="0">
              <a:latin typeface="Arabic Typesetting" panose="03020402040406030203" pitchFamily="66" charset="-78"/>
              <a:cs typeface="Arabic Typesetting" panose="03020402040406030203" pitchFamily="66" charset="-78"/>
            </a:endParaRPr>
          </a:p>
        </p:txBody>
      </p:sp>
      <p:pic>
        <p:nvPicPr>
          <p:cNvPr id="5" name="Picture 4">
            <a:extLst>
              <a:ext uri="{FF2B5EF4-FFF2-40B4-BE49-F238E27FC236}">
                <a16:creationId xmlns:a16="http://schemas.microsoft.com/office/drawing/2014/main" id="{F48F682A-36D2-394E-733F-69F9424D8EC1}"/>
              </a:ext>
            </a:extLst>
          </p:cNvPr>
          <p:cNvPicPr>
            <a:picLocks noChangeAspect="1"/>
          </p:cNvPicPr>
          <p:nvPr/>
        </p:nvPicPr>
        <p:blipFill rotWithShape="1">
          <a:blip r:embed="rId2"/>
          <a:srcRect l="23280" t="32187" r="43320" b="41093"/>
          <a:stretch/>
        </p:blipFill>
        <p:spPr>
          <a:xfrm>
            <a:off x="296260" y="2571750"/>
            <a:ext cx="3054100" cy="1374346"/>
          </a:xfrm>
          <a:prstGeom prst="rect">
            <a:avLst/>
          </a:prstGeom>
        </p:spPr>
      </p:pic>
      <p:pic>
        <p:nvPicPr>
          <p:cNvPr id="7" name="Picture 6">
            <a:extLst>
              <a:ext uri="{FF2B5EF4-FFF2-40B4-BE49-F238E27FC236}">
                <a16:creationId xmlns:a16="http://schemas.microsoft.com/office/drawing/2014/main" id="{47ED389C-6911-A978-09E1-8B7349C782D6}"/>
              </a:ext>
            </a:extLst>
          </p:cNvPr>
          <p:cNvPicPr>
            <a:picLocks noChangeAspect="1"/>
          </p:cNvPicPr>
          <p:nvPr/>
        </p:nvPicPr>
        <p:blipFill rotWithShape="1">
          <a:blip r:embed="rId3"/>
          <a:srcRect l="23279" t="35156" r="43321" b="38124"/>
          <a:stretch/>
        </p:blipFill>
        <p:spPr>
          <a:xfrm>
            <a:off x="5030115" y="2554893"/>
            <a:ext cx="3054101" cy="1374346"/>
          </a:xfrm>
          <a:prstGeom prst="rect">
            <a:avLst/>
          </a:prstGeom>
        </p:spPr>
      </p:pic>
      <p:pic>
        <p:nvPicPr>
          <p:cNvPr id="3074" name="Picture 2" descr=" ">
            <a:extLst>
              <a:ext uri="{FF2B5EF4-FFF2-40B4-BE49-F238E27FC236}">
                <a16:creationId xmlns:a16="http://schemas.microsoft.com/office/drawing/2014/main" id="{AABB4D55-FCCC-5398-6BBC-2B4B0734E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90" y="4404210"/>
            <a:ext cx="2414587" cy="357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600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F295D6D-30AE-1ECC-13E9-ABE546E23A96}"/>
              </a:ext>
            </a:extLst>
          </p:cNvPr>
          <p:cNvSpPr>
            <a:spLocks noGrp="1"/>
          </p:cNvSpPr>
          <p:nvPr>
            <p:ph idx="1"/>
          </p:nvPr>
        </p:nvSpPr>
        <p:spPr>
          <a:xfrm>
            <a:off x="143555" y="1502815"/>
            <a:ext cx="8856890" cy="3512215"/>
          </a:xfrm>
        </p:spPr>
        <p:txBody>
          <a:bodyPr>
            <a:noAutofit/>
          </a:bodyPr>
          <a:lstStyle/>
          <a:p>
            <a:pPr marL="0" indent="0">
              <a:buNone/>
            </a:pPr>
            <a:r>
              <a:rPr lang="en-US" b="0" i="0" dirty="0">
                <a:solidFill>
                  <a:srgbClr val="374151"/>
                </a:solidFill>
                <a:effectLst/>
                <a:latin typeface="Arabic Typesetting" panose="03020402040406030203" pitchFamily="66" charset="-78"/>
                <a:cs typeface="Arabic Typesetting" panose="03020402040406030203" pitchFamily="66" charset="-78"/>
              </a:rPr>
              <a:t>There are different types of informed search algorithms, such as A* Search and Greedy Best-First Search, which differ in the way they use the heuristic function to guide their search. A* Search uses a combination of the heuristic function and the cost of reaching a state to determine the priority of exploring a state. Greedy Best-First Search uses only the heuristic function to determine the priority of exploring a state.</a:t>
            </a:r>
            <a:endParaRPr lang="en-AE" b="1" dirty="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109100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7D8D2-4817-D7B4-41E5-1CB334848DB9}"/>
              </a:ext>
            </a:extLst>
          </p:cNvPr>
          <p:cNvSpPr>
            <a:spLocks noGrp="1"/>
          </p:cNvSpPr>
          <p:nvPr>
            <p:ph type="title"/>
          </p:nvPr>
        </p:nvSpPr>
        <p:spPr>
          <a:xfrm>
            <a:off x="4113885" y="281175"/>
            <a:ext cx="2290575" cy="763525"/>
          </a:xfrm>
        </p:spPr>
        <p:txBody>
          <a:bodyPr/>
          <a:lstStyle/>
          <a:p>
            <a:r>
              <a:rPr lang="en-US" b="1" dirty="0">
                <a:latin typeface="Agency FB" panose="020B0503020202020204" pitchFamily="34" charset="0"/>
              </a:rPr>
              <a:t>Summary</a:t>
            </a:r>
            <a:endParaRPr lang="en-AE" b="1" dirty="0">
              <a:latin typeface="Agency FB" panose="020B0503020202020204" pitchFamily="34" charset="0"/>
            </a:endParaRPr>
          </a:p>
        </p:txBody>
      </p:sp>
      <p:pic>
        <p:nvPicPr>
          <p:cNvPr id="5" name="Picture 4">
            <a:extLst>
              <a:ext uri="{FF2B5EF4-FFF2-40B4-BE49-F238E27FC236}">
                <a16:creationId xmlns:a16="http://schemas.microsoft.com/office/drawing/2014/main" id="{35E1C882-6AA9-FFDD-AEA8-BD3EF5BEDBC5}"/>
              </a:ext>
            </a:extLst>
          </p:cNvPr>
          <p:cNvPicPr>
            <a:picLocks noChangeAspect="1"/>
          </p:cNvPicPr>
          <p:nvPr/>
        </p:nvPicPr>
        <p:blipFill rotWithShape="1">
          <a:blip r:embed="rId3"/>
          <a:srcRect l="4909" t="44062" r="33301" b="29218"/>
          <a:stretch/>
        </p:blipFill>
        <p:spPr>
          <a:xfrm>
            <a:off x="365750" y="1408620"/>
            <a:ext cx="8704185" cy="335951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802AB3F-8B3E-CFCC-3BAF-CCB4ADB845E6}"/>
                  </a:ext>
                </a:extLst>
              </p14:cNvPr>
              <p14:cNvContentPartPr/>
              <p14:nvPr/>
            </p14:nvContentPartPr>
            <p14:xfrm>
              <a:off x="7135140" y="3511570"/>
              <a:ext cx="924120" cy="108360"/>
            </p14:xfrm>
          </p:contentPart>
        </mc:Choice>
        <mc:Fallback xmlns="">
          <p:pic>
            <p:nvPicPr>
              <p:cNvPr id="6" name="Ink 5">
                <a:extLst>
                  <a:ext uri="{FF2B5EF4-FFF2-40B4-BE49-F238E27FC236}">
                    <a16:creationId xmlns:a16="http://schemas.microsoft.com/office/drawing/2014/main" id="{7802AB3F-8B3E-CFCC-3BAF-CCB4ADB845E6}"/>
                  </a:ext>
                </a:extLst>
              </p:cNvPr>
              <p:cNvPicPr/>
              <p:nvPr/>
            </p:nvPicPr>
            <p:blipFill>
              <a:blip r:embed="rId5"/>
              <a:stretch>
                <a:fillRect/>
              </a:stretch>
            </p:blipFill>
            <p:spPr>
              <a:xfrm>
                <a:off x="7081140" y="3403930"/>
                <a:ext cx="103176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B82FF43-E719-EFC2-31EA-2A5EE3F93EF1}"/>
                  </a:ext>
                </a:extLst>
              </p14:cNvPr>
              <p14:cNvContentPartPr/>
              <p14:nvPr/>
            </p14:nvContentPartPr>
            <p14:xfrm>
              <a:off x="5575080" y="3431280"/>
              <a:ext cx="2235600" cy="129600"/>
            </p14:xfrm>
          </p:contentPart>
        </mc:Choice>
        <mc:Fallback xmlns="">
          <p:pic>
            <p:nvPicPr>
              <p:cNvPr id="7" name="Ink 6">
                <a:extLst>
                  <a:ext uri="{FF2B5EF4-FFF2-40B4-BE49-F238E27FC236}">
                    <a16:creationId xmlns:a16="http://schemas.microsoft.com/office/drawing/2014/main" id="{AB82FF43-E719-EFC2-31EA-2A5EE3F93EF1}"/>
                  </a:ext>
                </a:extLst>
              </p:cNvPr>
              <p:cNvPicPr/>
              <p:nvPr/>
            </p:nvPicPr>
            <p:blipFill>
              <a:blip r:embed="rId7"/>
              <a:stretch>
                <a:fillRect/>
              </a:stretch>
            </p:blipFill>
            <p:spPr>
              <a:xfrm>
                <a:off x="5521080" y="3323280"/>
                <a:ext cx="234324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3773683-4015-9219-F1D0-2934AE696A2F}"/>
                  </a:ext>
                </a:extLst>
              </p14:cNvPr>
              <p14:cNvContentPartPr/>
              <p14:nvPr/>
            </p14:nvContentPartPr>
            <p14:xfrm>
              <a:off x="7597200" y="1386840"/>
              <a:ext cx="640080" cy="43560"/>
            </p14:xfrm>
          </p:contentPart>
        </mc:Choice>
        <mc:Fallback xmlns="">
          <p:pic>
            <p:nvPicPr>
              <p:cNvPr id="8" name="Ink 7">
                <a:extLst>
                  <a:ext uri="{FF2B5EF4-FFF2-40B4-BE49-F238E27FC236}">
                    <a16:creationId xmlns:a16="http://schemas.microsoft.com/office/drawing/2014/main" id="{D3773683-4015-9219-F1D0-2934AE696A2F}"/>
                  </a:ext>
                </a:extLst>
              </p:cNvPr>
              <p:cNvPicPr/>
              <p:nvPr/>
            </p:nvPicPr>
            <p:blipFill>
              <a:blip r:embed="rId9"/>
              <a:stretch>
                <a:fillRect/>
              </a:stretch>
            </p:blipFill>
            <p:spPr>
              <a:xfrm>
                <a:off x="7543560" y="1278840"/>
                <a:ext cx="747720" cy="259200"/>
              </a:xfrm>
              <a:prstGeom prst="rect">
                <a:avLst/>
              </a:prstGeom>
            </p:spPr>
          </p:pic>
        </mc:Fallback>
      </mc:AlternateContent>
      <p:pic>
        <p:nvPicPr>
          <p:cNvPr id="11" name="Picture 10">
            <a:extLst>
              <a:ext uri="{FF2B5EF4-FFF2-40B4-BE49-F238E27FC236}">
                <a16:creationId xmlns:a16="http://schemas.microsoft.com/office/drawing/2014/main" id="{2A4FA6ED-7C1A-0E61-127F-C82D434AE290}"/>
              </a:ext>
            </a:extLst>
          </p:cNvPr>
          <p:cNvPicPr>
            <a:picLocks noChangeAspect="1"/>
          </p:cNvPicPr>
          <p:nvPr/>
        </p:nvPicPr>
        <p:blipFill rotWithShape="1">
          <a:blip r:embed="rId10"/>
          <a:srcRect l="21609" t="79689" r="33300" b="14373"/>
          <a:stretch/>
        </p:blipFill>
        <p:spPr>
          <a:xfrm>
            <a:off x="4724705" y="3431280"/>
            <a:ext cx="4123035" cy="362110"/>
          </a:xfrm>
          <a:prstGeom prst="rect">
            <a:avLst/>
          </a:prstGeom>
        </p:spPr>
      </p:pic>
    </p:spTree>
    <p:extLst>
      <p:ext uri="{BB962C8B-B14F-4D97-AF65-F5344CB8AC3E}">
        <p14:creationId xmlns:p14="http://schemas.microsoft.com/office/powerpoint/2010/main" val="315787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Words>
  <Application>Microsoft Office PowerPoint</Application>
  <PresentationFormat>On-screen Show (16:9)</PresentationFormat>
  <Paragraphs>33</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Agency FB</vt:lpstr>
      <vt:lpstr>Arabic Typesetting</vt:lpstr>
      <vt:lpstr>Arial</vt:lpstr>
      <vt:lpstr>Calibri</vt:lpstr>
      <vt:lpstr>Office Theme</vt:lpstr>
      <vt:lpstr>“Difference between Informed and Uninformed Search in AI” </vt:lpstr>
      <vt:lpstr>Introduction</vt:lpstr>
      <vt:lpstr>Uninformed Search</vt:lpstr>
      <vt:lpstr>Examples</vt:lpstr>
      <vt:lpstr>Uninformed Search </vt:lpstr>
      <vt:lpstr>PowerPoint Presentation</vt:lpstr>
      <vt:lpstr>Informed Search</vt:lpstr>
      <vt:lpstr>Heuristic Function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2023-03-22T07:56:34Z</dcterms:modified>
</cp:coreProperties>
</file>